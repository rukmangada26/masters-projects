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5" r:id="rId1"/>
  </p:sldMasterIdLst>
  <p:notesMasterIdLst>
    <p:notesMasterId r:id="rId24"/>
  </p:notesMasterIdLst>
  <p:sldIdLst>
    <p:sldId id="256" r:id="rId2"/>
    <p:sldId id="257" r:id="rId3"/>
    <p:sldId id="259" r:id="rId4"/>
    <p:sldId id="260" r:id="rId5"/>
    <p:sldId id="262" r:id="rId6"/>
    <p:sldId id="261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4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234A40-3638-604D-A7BC-BCC885277ABA}" v="18" dt="2025-04-05T04:22:36.2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65" autoAdjust="0"/>
    <p:restoredTop sz="86446"/>
  </p:normalViewPr>
  <p:slideViewPr>
    <p:cSldViewPr snapToGrid="0">
      <p:cViewPr varScale="1">
        <p:scale>
          <a:sx n="98" d="100"/>
          <a:sy n="98" d="100"/>
        </p:scale>
        <p:origin x="992" y="20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., Rukmangada" userId="b6cf7f35-7963-4023-ba3d-6c201e9570b1" providerId="ADAL" clId="{DB234A40-3638-604D-A7BC-BCC885277ABA}"/>
    <pc:docChg chg="undo redo custSel modSld">
      <pc:chgData name="., Rukmangada" userId="b6cf7f35-7963-4023-ba3d-6c201e9570b1" providerId="ADAL" clId="{DB234A40-3638-604D-A7BC-BCC885277ABA}" dt="2025-04-05T04:23:14.219" v="46" actId="1076"/>
      <pc:docMkLst>
        <pc:docMk/>
      </pc:docMkLst>
      <pc:sldChg chg="modSp mod">
        <pc:chgData name="., Rukmangada" userId="b6cf7f35-7963-4023-ba3d-6c201e9570b1" providerId="ADAL" clId="{DB234A40-3638-604D-A7BC-BCC885277ABA}" dt="2025-04-05T04:19:57.391" v="29" actId="20577"/>
        <pc:sldMkLst>
          <pc:docMk/>
          <pc:sldMk cId="144487385" sldId="256"/>
        </pc:sldMkLst>
        <pc:spChg chg="mod">
          <ac:chgData name="., Rukmangada" userId="b6cf7f35-7963-4023-ba3d-6c201e9570b1" providerId="ADAL" clId="{DB234A40-3638-604D-A7BC-BCC885277ABA}" dt="2025-04-05T04:19:57.391" v="29" actId="20577"/>
          <ac:spMkLst>
            <pc:docMk/>
            <pc:sldMk cId="144487385" sldId="256"/>
            <ac:spMk id="3" creationId="{5434E653-962F-6FDD-FFA0-A95E1FF7FFB0}"/>
          </ac:spMkLst>
        </pc:spChg>
      </pc:sldChg>
      <pc:sldChg chg="modSp mod">
        <pc:chgData name="., Rukmangada" userId="b6cf7f35-7963-4023-ba3d-6c201e9570b1" providerId="ADAL" clId="{DB234A40-3638-604D-A7BC-BCC885277ABA}" dt="2025-04-05T04:23:14.219" v="46" actId="1076"/>
        <pc:sldMkLst>
          <pc:docMk/>
          <pc:sldMk cId="3362964508" sldId="259"/>
        </pc:sldMkLst>
        <pc:spChg chg="mod">
          <ac:chgData name="., Rukmangada" userId="b6cf7f35-7963-4023-ba3d-6c201e9570b1" providerId="ADAL" clId="{DB234A40-3638-604D-A7BC-BCC885277ABA}" dt="2025-04-05T04:23:14.219" v="46" actId="1076"/>
          <ac:spMkLst>
            <pc:docMk/>
            <pc:sldMk cId="3362964508" sldId="259"/>
            <ac:spMk id="2" creationId="{BA0D9917-A66C-B34F-55B0-75A4B3BF4733}"/>
          </ac:spMkLst>
        </pc:spChg>
        <pc:spChg chg="mod">
          <ac:chgData name="., Rukmangada" userId="b6cf7f35-7963-4023-ba3d-6c201e9570b1" providerId="ADAL" clId="{DB234A40-3638-604D-A7BC-BCC885277ABA}" dt="2025-04-05T04:22:42.312" v="43" actId="108"/>
          <ac:spMkLst>
            <pc:docMk/>
            <pc:sldMk cId="3362964508" sldId="259"/>
            <ac:spMk id="3" creationId="{3C38AB9E-8AAA-57C5-36BE-32DB540638FB}"/>
          </ac:spMkLst>
        </pc:spChg>
      </pc:sldChg>
      <pc:sldChg chg="modSp mod">
        <pc:chgData name="., Rukmangada" userId="b6cf7f35-7963-4023-ba3d-6c201e9570b1" providerId="ADAL" clId="{DB234A40-3638-604D-A7BC-BCC885277ABA}" dt="2025-04-05T04:21:51.339" v="38" actId="313"/>
        <pc:sldMkLst>
          <pc:docMk/>
          <pc:sldMk cId="3429083578" sldId="261"/>
        </pc:sldMkLst>
        <pc:spChg chg="mod">
          <ac:chgData name="., Rukmangada" userId="b6cf7f35-7963-4023-ba3d-6c201e9570b1" providerId="ADAL" clId="{DB234A40-3638-604D-A7BC-BCC885277ABA}" dt="2025-04-05T04:21:51.339" v="38" actId="313"/>
          <ac:spMkLst>
            <pc:docMk/>
            <pc:sldMk cId="3429083578" sldId="261"/>
            <ac:spMk id="7" creationId="{FEE84BC4-DA9B-2151-43FA-E2904AF17DD1}"/>
          </ac:spMkLst>
        </pc:spChg>
      </pc:sldChg>
      <pc:sldChg chg="modSp">
        <pc:chgData name="., Rukmangada" userId="b6cf7f35-7963-4023-ba3d-6c201e9570b1" providerId="ADAL" clId="{DB234A40-3638-604D-A7BC-BCC885277ABA}" dt="2025-04-05T04:21:45.823" v="36"/>
        <pc:sldMkLst>
          <pc:docMk/>
          <pc:sldMk cId="250142519" sldId="262"/>
        </pc:sldMkLst>
        <pc:spChg chg="mod">
          <ac:chgData name="., Rukmangada" userId="b6cf7f35-7963-4023-ba3d-6c201e9570b1" providerId="ADAL" clId="{DB234A40-3638-604D-A7BC-BCC885277ABA}" dt="2025-04-05T04:21:45.823" v="36"/>
          <ac:spMkLst>
            <pc:docMk/>
            <pc:sldMk cId="250142519" sldId="262"/>
            <ac:spMk id="2" creationId="{08DF9DC8-7FE7-39EA-9EE5-767848286A24}"/>
          </ac:spMkLst>
        </pc:spChg>
      </pc:sldChg>
      <pc:sldChg chg="modSp">
        <pc:chgData name="., Rukmangada" userId="b6cf7f35-7963-4023-ba3d-6c201e9570b1" providerId="ADAL" clId="{DB234A40-3638-604D-A7BC-BCC885277ABA}" dt="2025-04-05T04:21:45.823" v="36"/>
        <pc:sldMkLst>
          <pc:docMk/>
          <pc:sldMk cId="2746041415" sldId="266"/>
        </pc:sldMkLst>
        <pc:spChg chg="mod">
          <ac:chgData name="., Rukmangada" userId="b6cf7f35-7963-4023-ba3d-6c201e9570b1" providerId="ADAL" clId="{DB234A40-3638-604D-A7BC-BCC885277ABA}" dt="2025-04-05T04:21:45.823" v="36"/>
          <ac:spMkLst>
            <pc:docMk/>
            <pc:sldMk cId="2746041415" sldId="266"/>
            <ac:spMk id="2" creationId="{23720F8D-8DB2-0CC3-0C99-938B2EA83ADD}"/>
          </ac:spMkLst>
        </pc:spChg>
      </pc:sldChg>
      <pc:sldChg chg="modSp">
        <pc:chgData name="., Rukmangada" userId="b6cf7f35-7963-4023-ba3d-6c201e9570b1" providerId="ADAL" clId="{DB234A40-3638-604D-A7BC-BCC885277ABA}" dt="2025-04-05T04:21:45.823" v="36"/>
        <pc:sldMkLst>
          <pc:docMk/>
          <pc:sldMk cId="2967907558" sldId="268"/>
        </pc:sldMkLst>
        <pc:spChg chg="mod">
          <ac:chgData name="., Rukmangada" userId="b6cf7f35-7963-4023-ba3d-6c201e9570b1" providerId="ADAL" clId="{DB234A40-3638-604D-A7BC-BCC885277ABA}" dt="2025-04-05T04:21:45.823" v="36"/>
          <ac:spMkLst>
            <pc:docMk/>
            <pc:sldMk cId="2967907558" sldId="268"/>
            <ac:spMk id="2" creationId="{406A6196-3765-D747-1291-1C008A24E8FA}"/>
          </ac:spMkLst>
        </pc:spChg>
        <pc:picChg chg="mod">
          <ac:chgData name="., Rukmangada" userId="b6cf7f35-7963-4023-ba3d-6c201e9570b1" providerId="ADAL" clId="{DB234A40-3638-604D-A7BC-BCC885277ABA}" dt="2025-04-05T04:21:45.823" v="36"/>
          <ac:picMkLst>
            <pc:docMk/>
            <pc:sldMk cId="2967907558" sldId="268"/>
            <ac:picMk id="5" creationId="{F24AFC44-B4D5-F485-9F9D-DEFC968C934A}"/>
          </ac:picMkLst>
        </pc:picChg>
      </pc:sldChg>
      <pc:sldChg chg="modSp">
        <pc:chgData name="., Rukmangada" userId="b6cf7f35-7963-4023-ba3d-6c201e9570b1" providerId="ADAL" clId="{DB234A40-3638-604D-A7BC-BCC885277ABA}" dt="2025-04-05T04:21:45.823" v="36"/>
        <pc:sldMkLst>
          <pc:docMk/>
          <pc:sldMk cId="1017804106" sldId="269"/>
        </pc:sldMkLst>
        <pc:picChg chg="mod">
          <ac:chgData name="., Rukmangada" userId="b6cf7f35-7963-4023-ba3d-6c201e9570b1" providerId="ADAL" clId="{DB234A40-3638-604D-A7BC-BCC885277ABA}" dt="2025-04-05T04:21:45.823" v="36"/>
          <ac:picMkLst>
            <pc:docMk/>
            <pc:sldMk cId="1017804106" sldId="269"/>
            <ac:picMk id="5" creationId="{1506CFDB-C909-699D-CEB2-74D693A4D30A}"/>
          </ac:picMkLst>
        </pc:picChg>
      </pc:sldChg>
      <pc:sldChg chg="modSp">
        <pc:chgData name="., Rukmangada" userId="b6cf7f35-7963-4023-ba3d-6c201e9570b1" providerId="ADAL" clId="{DB234A40-3638-604D-A7BC-BCC885277ABA}" dt="2025-04-05T04:21:45.823" v="36"/>
        <pc:sldMkLst>
          <pc:docMk/>
          <pc:sldMk cId="792754348" sldId="270"/>
        </pc:sldMkLst>
        <pc:spChg chg="mod">
          <ac:chgData name="., Rukmangada" userId="b6cf7f35-7963-4023-ba3d-6c201e9570b1" providerId="ADAL" clId="{DB234A40-3638-604D-A7BC-BCC885277ABA}" dt="2025-04-05T04:21:45.823" v="36"/>
          <ac:spMkLst>
            <pc:docMk/>
            <pc:sldMk cId="792754348" sldId="270"/>
            <ac:spMk id="2" creationId="{E81D29F5-EA69-E08A-C152-61A244AF3F02}"/>
          </ac:spMkLst>
        </pc:spChg>
      </pc:sldChg>
      <pc:sldChg chg="modSp">
        <pc:chgData name="., Rukmangada" userId="b6cf7f35-7963-4023-ba3d-6c201e9570b1" providerId="ADAL" clId="{DB234A40-3638-604D-A7BC-BCC885277ABA}" dt="2025-04-05T04:21:45.823" v="36"/>
        <pc:sldMkLst>
          <pc:docMk/>
          <pc:sldMk cId="2190732962" sldId="271"/>
        </pc:sldMkLst>
        <pc:spChg chg="mod">
          <ac:chgData name="., Rukmangada" userId="b6cf7f35-7963-4023-ba3d-6c201e9570b1" providerId="ADAL" clId="{DB234A40-3638-604D-A7BC-BCC885277ABA}" dt="2025-04-05T04:21:45.823" v="36"/>
          <ac:spMkLst>
            <pc:docMk/>
            <pc:sldMk cId="2190732962" sldId="271"/>
            <ac:spMk id="2" creationId="{1518E8BF-3D54-C66E-9D72-68CC04FD8085}"/>
          </ac:spMkLst>
        </pc:spChg>
        <pc:picChg chg="mod">
          <ac:chgData name="., Rukmangada" userId="b6cf7f35-7963-4023-ba3d-6c201e9570b1" providerId="ADAL" clId="{DB234A40-3638-604D-A7BC-BCC885277ABA}" dt="2025-04-05T04:21:45.823" v="36"/>
          <ac:picMkLst>
            <pc:docMk/>
            <pc:sldMk cId="2190732962" sldId="271"/>
            <ac:picMk id="5" creationId="{38243CE9-5326-83ED-BB86-FE1E28CA6BFB}"/>
          </ac:picMkLst>
        </pc:picChg>
      </pc:sldChg>
      <pc:sldChg chg="modSp">
        <pc:chgData name="., Rukmangada" userId="b6cf7f35-7963-4023-ba3d-6c201e9570b1" providerId="ADAL" clId="{DB234A40-3638-604D-A7BC-BCC885277ABA}" dt="2025-04-05T04:21:45.823" v="36"/>
        <pc:sldMkLst>
          <pc:docMk/>
          <pc:sldMk cId="4001478504" sldId="272"/>
        </pc:sldMkLst>
        <pc:spChg chg="mod">
          <ac:chgData name="., Rukmangada" userId="b6cf7f35-7963-4023-ba3d-6c201e9570b1" providerId="ADAL" clId="{DB234A40-3638-604D-A7BC-BCC885277ABA}" dt="2025-04-05T04:21:45.823" v="36"/>
          <ac:spMkLst>
            <pc:docMk/>
            <pc:sldMk cId="4001478504" sldId="272"/>
            <ac:spMk id="2" creationId="{7200B2BC-F70F-35E5-5F23-B736D493DA85}"/>
          </ac:spMkLst>
        </pc:spChg>
      </pc:sldChg>
      <pc:sldChg chg="modSp">
        <pc:chgData name="., Rukmangada" userId="b6cf7f35-7963-4023-ba3d-6c201e9570b1" providerId="ADAL" clId="{DB234A40-3638-604D-A7BC-BCC885277ABA}" dt="2025-04-05T04:21:45.823" v="36"/>
        <pc:sldMkLst>
          <pc:docMk/>
          <pc:sldMk cId="2500423598" sldId="273"/>
        </pc:sldMkLst>
        <pc:spChg chg="mod">
          <ac:chgData name="., Rukmangada" userId="b6cf7f35-7963-4023-ba3d-6c201e9570b1" providerId="ADAL" clId="{DB234A40-3638-604D-A7BC-BCC885277ABA}" dt="2025-04-05T04:21:45.823" v="36"/>
          <ac:spMkLst>
            <pc:docMk/>
            <pc:sldMk cId="2500423598" sldId="273"/>
            <ac:spMk id="2" creationId="{3326A6D3-8CA9-8D42-3680-B391C0C4B9F2}"/>
          </ac:spMkLst>
        </pc:spChg>
      </pc:sldChg>
      <pc:sldChg chg="modSp">
        <pc:chgData name="., Rukmangada" userId="b6cf7f35-7963-4023-ba3d-6c201e9570b1" providerId="ADAL" clId="{DB234A40-3638-604D-A7BC-BCC885277ABA}" dt="2025-04-05T04:21:45.823" v="36"/>
        <pc:sldMkLst>
          <pc:docMk/>
          <pc:sldMk cId="0" sldId="277"/>
        </pc:sldMkLst>
        <pc:spChg chg="mod">
          <ac:chgData name="., Rukmangada" userId="b6cf7f35-7963-4023-ba3d-6c201e9570b1" providerId="ADAL" clId="{DB234A40-3638-604D-A7BC-BCC885277ABA}" dt="2025-04-05T04:21:45.823" v="36"/>
          <ac:spMkLst>
            <pc:docMk/>
            <pc:sldMk cId="0" sldId="277"/>
            <ac:spMk id="2" creationId="{00000000-0000-0000-0000-000000000000}"/>
          </ac:spMkLst>
        </pc:spChg>
      </pc:sldChg>
      <pc:sldChg chg="addSp delSp modSp mod">
        <pc:chgData name="., Rukmangada" userId="b6cf7f35-7963-4023-ba3d-6c201e9570b1" providerId="ADAL" clId="{DB234A40-3638-604D-A7BC-BCC885277ABA}" dt="2025-04-05T04:18:47.336" v="9" actId="1076"/>
        <pc:sldMkLst>
          <pc:docMk/>
          <pc:sldMk cId="1345257587" sldId="278"/>
        </pc:sldMkLst>
        <pc:graphicFrameChg chg="add mod">
          <ac:chgData name="., Rukmangada" userId="b6cf7f35-7963-4023-ba3d-6c201e9570b1" providerId="ADAL" clId="{DB234A40-3638-604D-A7BC-BCC885277ABA}" dt="2025-04-05T04:18:47.336" v="9" actId="1076"/>
          <ac:graphicFrameMkLst>
            <pc:docMk/>
            <pc:sldMk cId="1345257587" sldId="278"/>
            <ac:graphicFrameMk id="4" creationId="{D1864D7B-0ADC-1F9A-7051-A6EB132791E7}"/>
          </ac:graphicFrameMkLst>
        </pc:graphicFrameChg>
        <pc:graphicFrameChg chg="del mod modGraphic">
          <ac:chgData name="., Rukmangada" userId="b6cf7f35-7963-4023-ba3d-6c201e9570b1" providerId="ADAL" clId="{DB234A40-3638-604D-A7BC-BCC885277ABA}" dt="2025-04-05T04:18:37.051" v="7" actId="478"/>
          <ac:graphicFrameMkLst>
            <pc:docMk/>
            <pc:sldMk cId="1345257587" sldId="278"/>
            <ac:graphicFrameMk id="32" creationId="{D7278C2C-C5E6-326F-F603-502B0A3F3D23}"/>
          </ac:graphicFrameMkLst>
        </pc:graphicFrameChg>
      </pc:sldChg>
      <pc:sldChg chg="modSp">
        <pc:chgData name="., Rukmangada" userId="b6cf7f35-7963-4023-ba3d-6c201e9570b1" providerId="ADAL" clId="{DB234A40-3638-604D-A7BC-BCC885277ABA}" dt="2025-04-05T04:21:45.823" v="36"/>
        <pc:sldMkLst>
          <pc:docMk/>
          <pc:sldMk cId="1540308294" sldId="279"/>
        </pc:sldMkLst>
        <pc:spChg chg="mod">
          <ac:chgData name="., Rukmangada" userId="b6cf7f35-7963-4023-ba3d-6c201e9570b1" providerId="ADAL" clId="{DB234A40-3638-604D-A7BC-BCC885277ABA}" dt="2025-04-05T04:21:45.823" v="36"/>
          <ac:spMkLst>
            <pc:docMk/>
            <pc:sldMk cId="1540308294" sldId="279"/>
            <ac:spMk id="2" creationId="{C188CB46-D04F-057B-B0B3-9085734F461F}"/>
          </ac:spMkLst>
        </pc:spChg>
        <pc:picChg chg="mod">
          <ac:chgData name="., Rukmangada" userId="b6cf7f35-7963-4023-ba3d-6c201e9570b1" providerId="ADAL" clId="{DB234A40-3638-604D-A7BC-BCC885277ABA}" dt="2025-04-05T04:21:45.823" v="36"/>
          <ac:picMkLst>
            <pc:docMk/>
            <pc:sldMk cId="1540308294" sldId="279"/>
            <ac:picMk id="4" creationId="{0BA47A3B-7B19-82CF-737B-3AEEE291B5F9}"/>
          </ac:picMkLst>
        </pc:picChg>
      </pc:sldChg>
      <pc:sldChg chg="modSp">
        <pc:chgData name="., Rukmangada" userId="b6cf7f35-7963-4023-ba3d-6c201e9570b1" providerId="ADAL" clId="{DB234A40-3638-604D-A7BC-BCC885277ABA}" dt="2025-04-05T04:21:45.823" v="36"/>
        <pc:sldMkLst>
          <pc:docMk/>
          <pc:sldMk cId="1813939629" sldId="281"/>
        </pc:sldMkLst>
        <pc:spChg chg="mod">
          <ac:chgData name="., Rukmangada" userId="b6cf7f35-7963-4023-ba3d-6c201e9570b1" providerId="ADAL" clId="{DB234A40-3638-604D-A7BC-BCC885277ABA}" dt="2025-04-05T04:21:45.823" v="36"/>
          <ac:spMkLst>
            <pc:docMk/>
            <pc:sldMk cId="1813939629" sldId="281"/>
            <ac:spMk id="2" creationId="{46FB951C-883F-BAB1-0C4F-2398FB10AB8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302FE4-1B02-3144-83F2-0CC810D15A7B}" type="datetimeFigureOut">
              <a:rPr lang="en-US" smtClean="0"/>
              <a:t>4/4/25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DF6F6F-43F8-6246-88E1-FB800823C3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313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DF6F6F-43F8-6246-88E1-FB800823C3F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3338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DF6F6F-43F8-6246-88E1-FB800823C3F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0958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DF6F6F-43F8-6246-88E1-FB800823C3F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8039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6F31B-4A39-45C0-A046-92A12F4FD05A}" type="datetimeFigureOut">
              <a:rPr lang="en-IN" smtClean="0"/>
              <a:t>04/04/25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76306-195B-4D23-8037-0C2E9C0024E0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3761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6F31B-4A39-45C0-A046-92A12F4FD05A}" type="datetimeFigureOut">
              <a:rPr lang="en-IN" smtClean="0"/>
              <a:t>04/04/25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76306-195B-4D23-8037-0C2E9C0024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901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6F31B-4A39-45C0-A046-92A12F4FD05A}" type="datetimeFigureOut">
              <a:rPr lang="en-IN" smtClean="0"/>
              <a:t>04/04/25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76306-195B-4D23-8037-0C2E9C0024E0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417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6F31B-4A39-45C0-A046-92A12F4FD05A}" type="datetimeFigureOut">
              <a:rPr lang="en-IN" smtClean="0"/>
              <a:t>04/04/25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76306-195B-4D23-8037-0C2E9C0024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8292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6F31B-4A39-45C0-A046-92A12F4FD05A}" type="datetimeFigureOut">
              <a:rPr lang="en-IN" smtClean="0"/>
              <a:t>04/04/25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76306-195B-4D23-8037-0C2E9C0024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1647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6F31B-4A39-45C0-A046-92A12F4FD05A}" type="datetimeFigureOut">
              <a:rPr lang="en-IN" smtClean="0"/>
              <a:t>04/04/25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76306-195B-4D23-8037-0C2E9C0024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883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6F31B-4A39-45C0-A046-92A12F4FD05A}" type="datetimeFigureOut">
              <a:rPr lang="en-IN" smtClean="0"/>
              <a:t>04/04/25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76306-195B-4D23-8037-0C2E9C0024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0151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326F31B-4A39-45C0-A046-92A12F4FD05A}" type="datetimeFigureOut">
              <a:rPr lang="en-IN" smtClean="0"/>
              <a:t>04/04/25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EF76306-195B-4D23-8037-0C2E9C0024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7624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6F31B-4A39-45C0-A046-92A12F4FD05A}" type="datetimeFigureOut">
              <a:rPr lang="en-IN" smtClean="0"/>
              <a:t>04/04/25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76306-195B-4D23-8037-0C2E9C0024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3571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6F31B-4A39-45C0-A046-92A12F4FD05A}" type="datetimeFigureOut">
              <a:rPr lang="en-IN" smtClean="0"/>
              <a:t>04/04/25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76306-195B-4D23-8037-0C2E9C0024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5422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6F31B-4A39-45C0-A046-92A12F4FD05A}" type="datetimeFigureOut">
              <a:rPr lang="en-IN" smtClean="0"/>
              <a:t>04/04/25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76306-195B-4D23-8037-0C2E9C0024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8606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326F31B-4A39-45C0-A046-92A12F4FD05A}" type="datetimeFigureOut">
              <a:rPr lang="en-IN" smtClean="0"/>
              <a:t>04/04/25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EF76306-195B-4D23-8037-0C2E9C0024E0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3437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FD961-4284-99FE-B9FA-D342A527AA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979179"/>
            <a:ext cx="10058400" cy="2248653"/>
          </a:xfrm>
        </p:spPr>
        <p:txBody>
          <a:bodyPr/>
          <a:lstStyle/>
          <a:p>
            <a:pPr algn="ctr"/>
            <a:r>
              <a:rPr lang="en-US" b="1" dirty="0"/>
              <a:t>CREDIT RISK MODEL PROJECT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34E653-962F-6FDD-FFA0-A95E1FF7FF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5811" y="4555726"/>
            <a:ext cx="10058400" cy="1698770"/>
          </a:xfrm>
        </p:spPr>
        <p:txBody>
          <a:bodyPr>
            <a:noAutofit/>
          </a:bodyPr>
          <a:lstStyle/>
          <a:p>
            <a:pPr algn="r"/>
            <a:r>
              <a:rPr lang="en-IN" sz="1800" b="1" dirty="0">
                <a:solidFill>
                  <a:schemeClr val="tx1"/>
                </a:solidFill>
                <a:latin typeface="+mn-lt"/>
              </a:rPr>
              <a:t>PROJECT BY:</a:t>
            </a:r>
          </a:p>
          <a:p>
            <a:pPr algn="r"/>
            <a:r>
              <a:rPr lang="en-IN" sz="1800" dirty="0">
                <a:solidFill>
                  <a:schemeClr val="tx1"/>
                </a:solidFill>
                <a:latin typeface="+mn-lt"/>
              </a:rPr>
              <a:t>Romit Jain</a:t>
            </a:r>
          </a:p>
          <a:p>
            <a:pPr algn="r"/>
            <a:r>
              <a:rPr lang="en-IN" sz="1800" dirty="0">
                <a:solidFill>
                  <a:schemeClr val="tx1"/>
                </a:solidFill>
                <a:latin typeface="+mn-lt"/>
              </a:rPr>
              <a:t>Rukmangada </a:t>
            </a:r>
          </a:p>
          <a:p>
            <a:pPr algn="r"/>
            <a:r>
              <a:rPr lang="en-IN" sz="1800" dirty="0">
                <a:solidFill>
                  <a:schemeClr val="tx1"/>
                </a:solidFill>
                <a:latin typeface="+mn-lt"/>
              </a:rPr>
              <a:t>Shreya Raghunath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8CDD90-9201-B18D-09C8-12E461045E7C}"/>
              </a:ext>
            </a:extLst>
          </p:cNvPr>
          <p:cNvSpPr txBox="1"/>
          <p:nvPr/>
        </p:nvSpPr>
        <p:spPr>
          <a:xfrm>
            <a:off x="4989576" y="3630169"/>
            <a:ext cx="24323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GROUP 15</a:t>
            </a:r>
          </a:p>
        </p:txBody>
      </p:sp>
    </p:spTree>
    <p:extLst>
      <p:ext uri="{BB962C8B-B14F-4D97-AF65-F5344CB8AC3E}">
        <p14:creationId xmlns:p14="http://schemas.microsoft.com/office/powerpoint/2010/main" val="144487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B4444-3D7A-937D-DEAD-37A1A2CFD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8"/>
            <a:ext cx="9392421" cy="1139028"/>
          </a:xfrm>
        </p:spPr>
        <p:txBody>
          <a:bodyPr>
            <a:normAutofit/>
          </a:bodyPr>
          <a:lstStyle/>
          <a:p>
            <a:r>
              <a:rPr lang="en-US" b="1" dirty="0"/>
              <a:t>Executive Summary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9209E-6644-8376-C284-834B7DC8A9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1924" y="1974068"/>
            <a:ext cx="5143845" cy="4177607"/>
          </a:xfrm>
        </p:spPr>
        <p:txBody>
          <a:bodyPr>
            <a:normAutofit/>
          </a:bodyPr>
          <a:lstStyle/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en-IN" sz="16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Goal:</a:t>
            </a:r>
            <a:endParaRPr lang="en-IN" sz="1600" kern="1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en-IN" sz="1600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Develop a Default Risk Model to enhance credit approval decisions by defining a strategic approach to credit card approvals, optimizing for both risk management and revenue growth.</a:t>
            </a:r>
          </a:p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en-IN" sz="16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Strategy:</a:t>
            </a:r>
            <a:endParaRPr lang="en-IN" sz="1600" kern="1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en-IN" sz="1600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Defined two targeted strategies—conservative and aggressive—each with distinct acceptance thresholds based on applicant default probability, allowing for flexibility in risk tolerance and revenue objectives.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196D90-9196-968C-D2C7-89F6DDA3A3AB}"/>
              </a:ext>
            </a:extLst>
          </p:cNvPr>
          <p:cNvSpPr txBox="1"/>
          <p:nvPr/>
        </p:nvSpPr>
        <p:spPr>
          <a:xfrm>
            <a:off x="6719367" y="1984248"/>
            <a:ext cx="4788508" cy="21553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en-IN" sz="1600" b="1" kern="100" dirty="0"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Outcome:</a:t>
            </a:r>
          </a:p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en-IN" sz="1600" kern="100" dirty="0"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Our proposed decisioning framework enables your business to mitigate risk effectively, improve decision-making precision, and secure a competitive edge in the market through a data-driven credit approval process.</a:t>
            </a:r>
          </a:p>
          <a:p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DB9DBDD-A19D-D2E7-50C4-C2090338EF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6441654"/>
              </p:ext>
            </p:extLst>
          </p:nvPr>
        </p:nvGraphicFramePr>
        <p:xfrm>
          <a:off x="6096000" y="4062871"/>
          <a:ext cx="5863899" cy="16268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4928">
                  <a:extLst>
                    <a:ext uri="{9D8B030D-6E8A-4147-A177-3AD203B41FA5}">
                      <a16:colId xmlns:a16="http://schemas.microsoft.com/office/drawing/2014/main" val="3712250821"/>
                    </a:ext>
                  </a:extLst>
                </a:gridCol>
                <a:gridCol w="794662">
                  <a:extLst>
                    <a:ext uri="{9D8B030D-6E8A-4147-A177-3AD203B41FA5}">
                      <a16:colId xmlns:a16="http://schemas.microsoft.com/office/drawing/2014/main" val="2117432108"/>
                    </a:ext>
                  </a:extLst>
                </a:gridCol>
                <a:gridCol w="645524">
                  <a:extLst>
                    <a:ext uri="{9D8B030D-6E8A-4147-A177-3AD203B41FA5}">
                      <a16:colId xmlns:a16="http://schemas.microsoft.com/office/drawing/2014/main" val="569182519"/>
                    </a:ext>
                  </a:extLst>
                </a:gridCol>
                <a:gridCol w="722579">
                  <a:extLst>
                    <a:ext uri="{9D8B030D-6E8A-4147-A177-3AD203B41FA5}">
                      <a16:colId xmlns:a16="http://schemas.microsoft.com/office/drawing/2014/main" val="3831078609"/>
                    </a:ext>
                  </a:extLst>
                </a:gridCol>
                <a:gridCol w="645524">
                  <a:extLst>
                    <a:ext uri="{9D8B030D-6E8A-4147-A177-3AD203B41FA5}">
                      <a16:colId xmlns:a16="http://schemas.microsoft.com/office/drawing/2014/main" val="3755438467"/>
                    </a:ext>
                  </a:extLst>
                </a:gridCol>
                <a:gridCol w="722579">
                  <a:extLst>
                    <a:ext uri="{9D8B030D-6E8A-4147-A177-3AD203B41FA5}">
                      <a16:colId xmlns:a16="http://schemas.microsoft.com/office/drawing/2014/main" val="2597521971"/>
                    </a:ext>
                  </a:extLst>
                </a:gridCol>
                <a:gridCol w="645524">
                  <a:extLst>
                    <a:ext uri="{9D8B030D-6E8A-4147-A177-3AD203B41FA5}">
                      <a16:colId xmlns:a16="http://schemas.microsoft.com/office/drawing/2014/main" val="3977612204"/>
                    </a:ext>
                  </a:extLst>
                </a:gridCol>
                <a:gridCol w="722579">
                  <a:extLst>
                    <a:ext uri="{9D8B030D-6E8A-4147-A177-3AD203B41FA5}">
                      <a16:colId xmlns:a16="http://schemas.microsoft.com/office/drawing/2014/main" val="8458879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6309" marR="66309" marT="33154" marB="33154"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Train</a:t>
                      </a:r>
                    </a:p>
                  </a:txBody>
                  <a:tcPr marL="66309" marR="66309" marT="33154" marB="33154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000" b="1" kern="1200" dirty="0">
                          <a:solidFill>
                            <a:schemeClr val="lt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Test 1</a:t>
                      </a:r>
                      <a:endParaRPr sz="1000" b="1" kern="1200" dirty="0">
                        <a:solidFill>
                          <a:schemeClr val="lt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000" b="1" kern="1200" dirty="0">
                          <a:solidFill>
                            <a:schemeClr val="lt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Test 2</a:t>
                      </a:r>
                      <a:endParaRPr sz="1000" b="1" kern="1200" dirty="0">
                        <a:solidFill>
                          <a:schemeClr val="lt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3252431"/>
                  </a:ext>
                </a:extLst>
              </a:tr>
              <a:tr h="454131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6309" marR="66309" marT="33154" marB="3315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Threshold</a:t>
                      </a:r>
                    </a:p>
                  </a:txBody>
                  <a:tcPr marL="66309" marR="66309" marT="33154" marB="33154"/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Default Rate</a:t>
                      </a:r>
                    </a:p>
                  </a:txBody>
                  <a:tcPr marL="66309" marR="66309" marT="33154" marB="33154"/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Revenue</a:t>
                      </a:r>
                    </a:p>
                  </a:txBody>
                  <a:tcPr marL="66309" marR="66309" marT="33154" marB="33154"/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Default Rate</a:t>
                      </a:r>
                    </a:p>
                  </a:txBody>
                  <a:tcPr marL="66309" marR="66309" marT="33154" marB="33154"/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Revenue</a:t>
                      </a:r>
                    </a:p>
                  </a:txBody>
                  <a:tcPr marL="66309" marR="66309" marT="33154" marB="33154"/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Default Rate</a:t>
                      </a:r>
                    </a:p>
                  </a:txBody>
                  <a:tcPr marL="66309" marR="66309" marT="33154" marB="33154"/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Revenue</a:t>
                      </a:r>
                    </a:p>
                  </a:txBody>
                  <a:tcPr marL="66309" marR="66309" marT="33154" marB="33154"/>
                </a:tc>
                <a:extLst>
                  <a:ext uri="{0D108BD9-81ED-4DB2-BD59-A6C34878D82A}">
                    <a16:rowId xmlns:a16="http://schemas.microsoft.com/office/drawing/2014/main" val="4055973546"/>
                  </a:ext>
                </a:extLst>
              </a:tr>
              <a:tr h="454131">
                <a:tc>
                  <a:txBody>
                    <a:bodyPr/>
                    <a:lstStyle/>
                    <a:p>
                      <a:r>
                        <a:rPr lang="en-US" sz="1100" b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Conservative Strategy</a:t>
                      </a:r>
                    </a:p>
                  </a:txBody>
                  <a:tcPr marL="66309" marR="66309" marT="33154" marB="33154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</a:t>
                      </a:r>
                    </a:p>
                  </a:txBody>
                  <a:tcPr marL="6448" marR="6448" marT="64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2.02%</a:t>
                      </a:r>
                    </a:p>
                  </a:txBody>
                  <a:tcPr marL="6448" marR="6448" marT="64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$8,069</a:t>
                      </a:r>
                    </a:p>
                  </a:txBody>
                  <a:tcPr marL="6448" marR="6448" marT="64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4.84%</a:t>
                      </a:r>
                    </a:p>
                  </a:txBody>
                  <a:tcPr marL="6448" marR="6448" marT="64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$1,728</a:t>
                      </a:r>
                    </a:p>
                  </a:txBody>
                  <a:tcPr marL="6448" marR="6448" marT="64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4.84%</a:t>
                      </a:r>
                    </a:p>
                  </a:txBody>
                  <a:tcPr marL="6448" marR="6448" marT="64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$1,728</a:t>
                      </a:r>
                    </a:p>
                  </a:txBody>
                  <a:tcPr marL="6448" marR="6448" marT="6448" marB="0" anchor="b"/>
                </a:tc>
                <a:extLst>
                  <a:ext uri="{0D108BD9-81ED-4DB2-BD59-A6C34878D82A}">
                    <a16:rowId xmlns:a16="http://schemas.microsoft.com/office/drawing/2014/main" val="746786932"/>
                  </a:ext>
                </a:extLst>
              </a:tr>
              <a:tr h="454131"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Aggressive Strategy</a:t>
                      </a:r>
                    </a:p>
                  </a:txBody>
                  <a:tcPr marL="66309" marR="66309" marT="33154" marB="33154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</a:t>
                      </a:r>
                    </a:p>
                  </a:txBody>
                  <a:tcPr marL="6448" marR="6448" marT="64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5.01%</a:t>
                      </a:r>
                    </a:p>
                  </a:txBody>
                  <a:tcPr marL="6448" marR="6448" marT="64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$8,272</a:t>
                      </a:r>
                    </a:p>
                  </a:txBody>
                  <a:tcPr marL="6448" marR="6448" marT="64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8.50%</a:t>
                      </a:r>
                    </a:p>
                  </a:txBody>
                  <a:tcPr marL="6448" marR="6448" marT="64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$1,775</a:t>
                      </a:r>
                    </a:p>
                  </a:txBody>
                  <a:tcPr marL="6448" marR="6448" marT="64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8.50%</a:t>
                      </a:r>
                    </a:p>
                  </a:txBody>
                  <a:tcPr marL="6448" marR="6448" marT="64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$1,775</a:t>
                      </a:r>
                    </a:p>
                  </a:txBody>
                  <a:tcPr marL="6448" marR="6448" marT="6448" marB="0" anchor="b"/>
                </a:tc>
                <a:extLst>
                  <a:ext uri="{0D108BD9-81ED-4DB2-BD59-A6C34878D82A}">
                    <a16:rowId xmlns:a16="http://schemas.microsoft.com/office/drawing/2014/main" val="2824315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1062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D9917-A66C-B34F-55B0-75A4B3BF4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822190"/>
            <a:ext cx="10058400" cy="915170"/>
          </a:xfrm>
        </p:spPr>
        <p:txBody>
          <a:bodyPr/>
          <a:lstStyle/>
          <a:p>
            <a:r>
              <a:rPr lang="en-US" b="1" dirty="0"/>
              <a:t>Dataset Information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8AB9E-8AAA-57C5-36BE-32DB54063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10854575" cy="4023360"/>
          </a:xfrm>
        </p:spPr>
        <p:txBody>
          <a:bodyPr>
            <a:normAutofit fontScale="92500" lnSpcReduction="20000"/>
          </a:bodyPr>
          <a:lstStyle/>
          <a:p>
            <a:pPr marL="34290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700" dirty="0"/>
              <a:t>Dataset </a:t>
            </a:r>
            <a:r>
              <a:rPr lang="en-IN" sz="1700" dirty="0">
                <a:effectLst/>
                <a:ea typeface="Calibri" panose="020F0502020204030204" pitchFamily="34" charset="0"/>
                <a:cs typeface="Mangal" panose="02040503050203030202" pitchFamily="18" charset="0"/>
              </a:rPr>
              <a:t>includes historical data for each customer spanning up to </a:t>
            </a:r>
            <a:r>
              <a:rPr lang="en-IN" sz="1700" b="1" dirty="0">
                <a:effectLst/>
                <a:ea typeface="Calibri" panose="020F0502020204030204" pitchFamily="34" charset="0"/>
                <a:cs typeface="Mangal" panose="02040503050203030202" pitchFamily="18" charset="0"/>
              </a:rPr>
              <a:t>13 months </a:t>
            </a:r>
          </a:p>
          <a:p>
            <a:pPr marL="34290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700" b="1" kern="100" dirty="0">
                <a:effectLst/>
                <a:ea typeface="Calibri" panose="020F0502020204030204" pitchFamily="34" charset="0"/>
                <a:cs typeface="Mangal" panose="02040503050203030202" pitchFamily="18" charset="0"/>
              </a:rPr>
              <a:t>Target Variable : </a:t>
            </a:r>
            <a:r>
              <a:rPr lang="en-US" sz="1700" kern="100" dirty="0">
                <a:effectLst/>
                <a:ea typeface="Calibri" panose="020F0502020204030204" pitchFamily="34" charset="0"/>
                <a:cs typeface="Mangal" panose="02040503050203030202" pitchFamily="18" charset="0"/>
              </a:rPr>
              <a:t>Whether the Customer Defaulted on Payments or Not</a:t>
            </a:r>
          </a:p>
          <a:p>
            <a:pPr marL="34290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N" sz="1700" b="1" kern="100" dirty="0">
                <a:effectLst/>
                <a:ea typeface="Calibri" panose="020F0502020204030204" pitchFamily="34" charset="0"/>
                <a:cs typeface="Mangal" panose="02040503050203030202" pitchFamily="18" charset="0"/>
              </a:rPr>
              <a:t>Original Train Data Size: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IN" sz="17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Rows: </a:t>
            </a:r>
            <a:r>
              <a:rPr lang="en-IN" sz="17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5,</a:t>
            </a:r>
            <a:r>
              <a:rPr lang="en-US" sz="1700" b="1" kern="100" dirty="0">
                <a:cs typeface="Times New Roman" panose="02020603050405020304" pitchFamily="18" charset="0"/>
              </a:rPr>
              <a:t>531,451</a:t>
            </a:r>
            <a:endParaRPr lang="en-IN" sz="1700" b="1" kern="100" dirty="0"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IN" sz="17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Columns: </a:t>
            </a:r>
            <a:r>
              <a:rPr lang="en-IN" sz="17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190</a:t>
            </a:r>
            <a:endParaRPr lang="en-IN" sz="1700" b="1" kern="100" dirty="0">
              <a:effectLst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N" sz="1700" b="1" kern="100" dirty="0">
                <a:effectLst/>
                <a:ea typeface="Calibri" panose="020F0502020204030204" pitchFamily="34" charset="0"/>
                <a:cs typeface="Mangal" panose="02040503050203030202" pitchFamily="18" charset="0"/>
              </a:rPr>
              <a:t>20% Sampled Data:</a:t>
            </a:r>
            <a:endParaRPr lang="en-IN" sz="1700" kern="100" dirty="0">
              <a:effectLst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IN" sz="17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Rows: </a:t>
            </a:r>
            <a:r>
              <a:rPr lang="en-IN" sz="17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1,107,082</a:t>
            </a:r>
            <a:endParaRPr lang="en-IN" sz="17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IN" sz="17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Columns: </a:t>
            </a:r>
            <a:r>
              <a:rPr lang="en-IN" sz="17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191</a:t>
            </a:r>
            <a:endParaRPr lang="en-IN" sz="17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IN" sz="17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Unique Customers: </a:t>
            </a:r>
            <a:r>
              <a:rPr lang="en-IN" sz="17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91,783 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en-US" sz="1700" dirty="0"/>
          </a:p>
          <a:p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5E41CB1-CE23-D598-2AFE-A8F971D5657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20147242"/>
              </p:ext>
            </p:extLst>
          </p:nvPr>
        </p:nvGraphicFramePr>
        <p:xfrm>
          <a:off x="8061499" y="1845734"/>
          <a:ext cx="3788756" cy="4190076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850192">
                  <a:extLst>
                    <a:ext uri="{9D8B030D-6E8A-4147-A177-3AD203B41FA5}">
                      <a16:colId xmlns:a16="http://schemas.microsoft.com/office/drawing/2014/main" val="1193000897"/>
                    </a:ext>
                  </a:extLst>
                </a:gridCol>
                <a:gridCol w="944371">
                  <a:extLst>
                    <a:ext uri="{9D8B030D-6E8A-4147-A177-3AD203B41FA5}">
                      <a16:colId xmlns:a16="http://schemas.microsoft.com/office/drawing/2014/main" val="800192720"/>
                    </a:ext>
                  </a:extLst>
                </a:gridCol>
                <a:gridCol w="893675">
                  <a:extLst>
                    <a:ext uri="{9D8B030D-6E8A-4147-A177-3AD203B41FA5}">
                      <a16:colId xmlns:a16="http://schemas.microsoft.com/office/drawing/2014/main" val="437145815"/>
                    </a:ext>
                  </a:extLst>
                </a:gridCol>
                <a:gridCol w="1100518">
                  <a:extLst>
                    <a:ext uri="{9D8B030D-6E8A-4147-A177-3AD203B41FA5}">
                      <a16:colId xmlns:a16="http://schemas.microsoft.com/office/drawing/2014/main" val="4229489177"/>
                    </a:ext>
                  </a:extLst>
                </a:gridCol>
              </a:tblGrid>
              <a:tr h="406873">
                <a:tc>
                  <a:txBody>
                    <a:bodyPr/>
                    <a:lstStyle/>
                    <a:p>
                      <a:pPr algn="ctr" fontAlgn="t"/>
                      <a:r>
                        <a:rPr lang="en-IN" sz="1300" b="1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temp_yearmonth</a:t>
                      </a:r>
                    </a:p>
                  </a:txBody>
                  <a:tcPr marL="129474" marR="97106" marT="64737" marB="6473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300" b="1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default_observation</a:t>
                      </a:r>
                    </a:p>
                  </a:txBody>
                  <a:tcPr marL="129474" marR="97106" marT="64737" marB="6473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300" b="1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total_observations</a:t>
                      </a:r>
                    </a:p>
                  </a:txBody>
                  <a:tcPr marL="129474" marR="97106" marT="64737" marB="6473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300" b="1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default_rate_per_month</a:t>
                      </a:r>
                    </a:p>
                  </a:txBody>
                  <a:tcPr marL="129474" marR="97106" marT="64737" marB="6473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6322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2017-03</a:t>
                      </a:r>
                    </a:p>
                  </a:txBody>
                  <a:tcPr marL="129474" marR="97106" marT="64737" marB="6473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18209</a:t>
                      </a:r>
                    </a:p>
                  </a:txBody>
                  <a:tcPr marL="129474" marR="97106" marT="64737" marB="6473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79285</a:t>
                      </a:r>
                    </a:p>
                  </a:txBody>
                  <a:tcPr marL="129474" marR="97106" marT="64737" marB="6473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0.2297</a:t>
                      </a:r>
                    </a:p>
                  </a:txBody>
                  <a:tcPr marL="129474" marR="97106" marT="64737" marB="6473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29506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2017-04</a:t>
                      </a:r>
                    </a:p>
                  </a:txBody>
                  <a:tcPr marL="129474" marR="97106" marT="64737" marB="6473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18824</a:t>
                      </a:r>
                    </a:p>
                  </a:txBody>
                  <a:tcPr marL="129474" marR="97106" marT="64737" marB="6473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80471</a:t>
                      </a:r>
                    </a:p>
                  </a:txBody>
                  <a:tcPr marL="129474" marR="97106" marT="64737" marB="6473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0.2339</a:t>
                      </a:r>
                    </a:p>
                  </a:txBody>
                  <a:tcPr marL="129474" marR="97106" marT="64737" marB="6473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71085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2017-05</a:t>
                      </a:r>
                    </a:p>
                  </a:txBody>
                  <a:tcPr marL="129474" marR="97106" marT="64737" marB="6473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18928</a:t>
                      </a:r>
                    </a:p>
                  </a:txBody>
                  <a:tcPr marL="129474" marR="97106" marT="64737" marB="6473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80174</a:t>
                      </a:r>
                    </a:p>
                  </a:txBody>
                  <a:tcPr marL="129474" marR="97106" marT="64737" marB="6473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0.2361</a:t>
                      </a:r>
                    </a:p>
                  </a:txBody>
                  <a:tcPr marL="129474" marR="97106" marT="64737" marB="6473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94266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2017-06</a:t>
                      </a:r>
                    </a:p>
                  </a:txBody>
                  <a:tcPr marL="129474" marR="97106" marT="64737" marB="6473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19686</a:t>
                      </a:r>
                    </a:p>
                  </a:txBody>
                  <a:tcPr marL="129474" marR="97106" marT="64737" marB="6473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82129</a:t>
                      </a:r>
                    </a:p>
                  </a:txBody>
                  <a:tcPr marL="129474" marR="97106" marT="64737" marB="6473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0.2397</a:t>
                      </a:r>
                    </a:p>
                  </a:txBody>
                  <a:tcPr marL="129474" marR="97106" marT="64737" marB="6473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07176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2017-07</a:t>
                      </a:r>
                    </a:p>
                  </a:txBody>
                  <a:tcPr marL="129474" marR="97106" marT="64737" marB="6473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20221</a:t>
                      </a:r>
                    </a:p>
                  </a:txBody>
                  <a:tcPr marL="129474" marR="97106" marT="64737" marB="6473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83211</a:t>
                      </a:r>
                    </a:p>
                  </a:txBody>
                  <a:tcPr marL="129474" marR="97106" marT="64737" marB="6473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0.243</a:t>
                      </a:r>
                    </a:p>
                  </a:txBody>
                  <a:tcPr marL="129474" marR="97106" marT="64737" marB="6473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6095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2017-08</a:t>
                      </a:r>
                    </a:p>
                  </a:txBody>
                  <a:tcPr marL="129474" marR="97106" marT="64737" marB="6473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20722</a:t>
                      </a:r>
                    </a:p>
                  </a:txBody>
                  <a:tcPr marL="129474" marR="97106" marT="64737" marB="6473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84262</a:t>
                      </a:r>
                    </a:p>
                  </a:txBody>
                  <a:tcPr marL="129474" marR="97106" marT="64737" marB="6473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0.2459</a:t>
                      </a:r>
                    </a:p>
                  </a:txBody>
                  <a:tcPr marL="129474" marR="97106" marT="64737" marB="6473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40276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2017-09</a:t>
                      </a:r>
                    </a:p>
                  </a:txBody>
                  <a:tcPr marL="129474" marR="97106" marT="64737" marB="6473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21125</a:t>
                      </a:r>
                    </a:p>
                  </a:txBody>
                  <a:tcPr marL="129474" marR="97106" marT="64737" marB="6473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85149</a:t>
                      </a:r>
                    </a:p>
                  </a:txBody>
                  <a:tcPr marL="129474" marR="97106" marT="64737" marB="6473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0.2481</a:t>
                      </a:r>
                    </a:p>
                  </a:txBody>
                  <a:tcPr marL="129474" marR="97106" marT="64737" marB="6473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6761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2017-10</a:t>
                      </a:r>
                    </a:p>
                  </a:txBody>
                  <a:tcPr marL="129474" marR="97106" marT="64737" marB="6473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21538</a:t>
                      </a:r>
                    </a:p>
                  </a:txBody>
                  <a:tcPr marL="129474" marR="97106" marT="64737" marB="6473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86072</a:t>
                      </a:r>
                    </a:p>
                  </a:txBody>
                  <a:tcPr marL="129474" marR="97106" marT="64737" marB="6473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0.2502</a:t>
                      </a:r>
                    </a:p>
                  </a:txBody>
                  <a:tcPr marL="129474" marR="97106" marT="64737" marB="6473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28102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2017-11</a:t>
                      </a:r>
                    </a:p>
                  </a:txBody>
                  <a:tcPr marL="129474" marR="97106" marT="64737" marB="6473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21898</a:t>
                      </a:r>
                    </a:p>
                  </a:txBody>
                  <a:tcPr marL="129474" marR="97106" marT="64737" marB="6473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86876</a:t>
                      </a:r>
                    </a:p>
                  </a:txBody>
                  <a:tcPr marL="129474" marR="97106" marT="64737" marB="6473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0.2521</a:t>
                      </a:r>
                    </a:p>
                  </a:txBody>
                  <a:tcPr marL="129474" marR="97106" marT="64737" marB="6473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7291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2017-12</a:t>
                      </a:r>
                    </a:p>
                  </a:txBody>
                  <a:tcPr marL="129474" marR="97106" marT="64737" marB="6473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22302</a:t>
                      </a:r>
                    </a:p>
                  </a:txBody>
                  <a:tcPr marL="129474" marR="97106" marT="64737" marB="6473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87783</a:t>
                      </a:r>
                    </a:p>
                  </a:txBody>
                  <a:tcPr marL="129474" marR="97106" marT="64737" marB="6473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0.2541</a:t>
                      </a:r>
                    </a:p>
                  </a:txBody>
                  <a:tcPr marL="129474" marR="97106" marT="64737" marB="6473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1535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2018-01</a:t>
                      </a:r>
                    </a:p>
                  </a:txBody>
                  <a:tcPr marL="129474" marR="97106" marT="64737" marB="6473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22740</a:t>
                      </a:r>
                    </a:p>
                  </a:txBody>
                  <a:tcPr marL="129474" marR="97106" marT="64737" marB="6473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89288</a:t>
                      </a:r>
                    </a:p>
                  </a:txBody>
                  <a:tcPr marL="129474" marR="97106" marT="64737" marB="6473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0.2547</a:t>
                      </a:r>
                    </a:p>
                  </a:txBody>
                  <a:tcPr marL="129474" marR="97106" marT="64737" marB="6473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88902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2018-02</a:t>
                      </a:r>
                    </a:p>
                  </a:txBody>
                  <a:tcPr marL="129474" marR="97106" marT="64737" marB="6473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23158</a:t>
                      </a:r>
                    </a:p>
                  </a:txBody>
                  <a:tcPr marL="129474" marR="97106" marT="64737" marB="6473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90599</a:t>
                      </a:r>
                    </a:p>
                  </a:txBody>
                  <a:tcPr marL="129474" marR="97106" marT="64737" marB="6473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0.2556</a:t>
                      </a:r>
                    </a:p>
                  </a:txBody>
                  <a:tcPr marL="129474" marR="97106" marT="64737" marB="6473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28099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2018-03</a:t>
                      </a:r>
                    </a:p>
                  </a:txBody>
                  <a:tcPr marL="129474" marR="97106" marT="64737" marB="6473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23543</a:t>
                      </a:r>
                    </a:p>
                  </a:txBody>
                  <a:tcPr marL="129474" marR="97106" marT="64737" marB="6473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91783</a:t>
                      </a:r>
                    </a:p>
                  </a:txBody>
                  <a:tcPr marL="129474" marR="97106" marT="64737" marB="6473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0.2565</a:t>
                      </a:r>
                    </a:p>
                  </a:txBody>
                  <a:tcPr marL="129474" marR="97106" marT="64737" marB="6473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94017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2964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B0B71-3DED-DB67-5C2E-6299C11D8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6107" y="760387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b="1" dirty="0"/>
              <a:t>Features</a:t>
            </a:r>
            <a:endParaRPr lang="en-IN" dirty="0">
              <a:solidFill>
                <a:schemeClr val="tx1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CCD4BCD-422A-7712-D4D8-5C109F3B74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7562162"/>
              </p:ext>
            </p:extLst>
          </p:nvPr>
        </p:nvGraphicFramePr>
        <p:xfrm>
          <a:off x="341745" y="1804369"/>
          <a:ext cx="5911273" cy="4519128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  <a:tableStyleId>{5C22544A-7EE6-4342-B048-85BDC9FD1C3A}</a:tableStyleId>
              </a:tblPr>
              <a:tblGrid>
                <a:gridCol w="1922008">
                  <a:extLst>
                    <a:ext uri="{9D8B030D-6E8A-4147-A177-3AD203B41FA5}">
                      <a16:colId xmlns:a16="http://schemas.microsoft.com/office/drawing/2014/main" val="2482065892"/>
                    </a:ext>
                  </a:extLst>
                </a:gridCol>
                <a:gridCol w="1027677">
                  <a:extLst>
                    <a:ext uri="{9D8B030D-6E8A-4147-A177-3AD203B41FA5}">
                      <a16:colId xmlns:a16="http://schemas.microsoft.com/office/drawing/2014/main" val="841598293"/>
                    </a:ext>
                  </a:extLst>
                </a:gridCol>
                <a:gridCol w="1480336">
                  <a:extLst>
                    <a:ext uri="{9D8B030D-6E8A-4147-A177-3AD203B41FA5}">
                      <a16:colId xmlns:a16="http://schemas.microsoft.com/office/drawing/2014/main" val="3235873798"/>
                    </a:ext>
                  </a:extLst>
                </a:gridCol>
                <a:gridCol w="1481252">
                  <a:extLst>
                    <a:ext uri="{9D8B030D-6E8A-4147-A177-3AD203B41FA5}">
                      <a16:colId xmlns:a16="http://schemas.microsoft.com/office/drawing/2014/main" val="2751087881"/>
                    </a:ext>
                  </a:extLst>
                </a:gridCol>
              </a:tblGrid>
              <a:tr h="76380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b="1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Feature Group</a:t>
                      </a:r>
                      <a:endParaRPr lang="en-IN" sz="2000" b="1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042" marR="7941" marT="22869" marB="171519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b="1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Prefix</a:t>
                      </a:r>
                      <a:endParaRPr lang="en-IN" sz="2000" b="1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042" marR="7941" marT="22869" marB="171519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b="1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Example Variables</a:t>
                      </a:r>
                      <a:endParaRPr lang="en-IN" sz="2000" b="1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042" marR="7941" marT="22869" marB="171519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b="1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Description</a:t>
                      </a:r>
                      <a:endParaRPr lang="en-IN" sz="2000" b="1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042" marR="7941" marT="22869" marB="171519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126238"/>
                  </a:ext>
                </a:extLst>
              </a:tr>
              <a:tr h="836193">
                <a:tc>
                  <a:txBody>
                    <a:bodyPr/>
                    <a:lstStyle/>
                    <a:p>
                      <a:pPr algn="l" fontAlgn="ctr"/>
                      <a:r>
                        <a:rPr lang="en-IN" sz="15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Delinquencies</a:t>
                      </a:r>
                      <a:endParaRPr lang="en-IN" sz="15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042" marR="7941" marT="22869" marB="171519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5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D_</a:t>
                      </a:r>
                      <a:endParaRPr lang="en-IN" sz="15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rial Unicode MS"/>
                      </a:endParaRPr>
                    </a:p>
                  </a:txBody>
                  <a:tcPr marL="80042" marR="7941" marT="22869" marB="17151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5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D_39, D_41</a:t>
                      </a:r>
                      <a:endParaRPr lang="en-IN" sz="15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rial Unicode MS"/>
                      </a:endParaRPr>
                    </a:p>
                  </a:txBody>
                  <a:tcPr marL="80042" marR="7941" marT="22869" marB="17151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5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Missed payments, late flags</a:t>
                      </a:r>
                      <a:endParaRPr lang="en-IN" sz="15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042" marR="7941" marT="22869" marB="17151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8429411"/>
                  </a:ext>
                </a:extLst>
              </a:tr>
              <a:tr h="836193">
                <a:tc>
                  <a:txBody>
                    <a:bodyPr/>
                    <a:lstStyle/>
                    <a:p>
                      <a:pPr algn="l" fontAlgn="ctr"/>
                      <a:r>
                        <a:rPr lang="en-IN" sz="15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Spending</a:t>
                      </a:r>
                      <a:endParaRPr lang="en-IN" sz="15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042" marR="7941" marT="22869" marB="171519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5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S_</a:t>
                      </a:r>
                      <a:endParaRPr lang="en-IN" sz="15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rial Unicode MS"/>
                      </a:endParaRPr>
                    </a:p>
                  </a:txBody>
                  <a:tcPr marL="80042" marR="7941" marT="22869" marB="17151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S_11, S_24</a:t>
                      </a:r>
                      <a:endParaRPr lang="en-IN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Arial Unicode MS"/>
                      </a:endParaRPr>
                    </a:p>
                  </a:txBody>
                  <a:tcPr marL="80042" marR="7941" marT="22869" marB="17151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Monthly transaction activity</a:t>
                      </a:r>
                      <a:endParaRPr lang="en-IN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042" marR="7941" marT="22869" marB="17151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904518"/>
                  </a:ext>
                </a:extLst>
              </a:tr>
              <a:tr h="619019">
                <a:tc>
                  <a:txBody>
                    <a:bodyPr/>
                    <a:lstStyle/>
                    <a:p>
                      <a:pPr algn="l" fontAlgn="ctr"/>
                      <a:r>
                        <a:rPr lang="en-IN" sz="1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Balances</a:t>
                      </a:r>
                      <a:endParaRPr lang="en-IN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042" marR="7941" marT="22869" marB="171519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5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B_</a:t>
                      </a:r>
                      <a:endParaRPr lang="en-IN" sz="15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rial Unicode MS"/>
                      </a:endParaRPr>
                    </a:p>
                  </a:txBody>
                  <a:tcPr marL="80042" marR="7941" marT="22869" marB="17151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5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B_1, B_2</a:t>
                      </a:r>
                      <a:endParaRPr lang="en-IN" sz="15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rial Unicode MS"/>
                      </a:endParaRPr>
                    </a:p>
                  </a:txBody>
                  <a:tcPr marL="80042" marR="7941" marT="22869" marB="17151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5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Amount owed, balance trends</a:t>
                      </a:r>
                      <a:endParaRPr lang="en-IN" sz="15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042" marR="7941" marT="22869" marB="17151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7306123"/>
                  </a:ext>
                </a:extLst>
              </a:tr>
              <a:tr h="619019">
                <a:tc>
                  <a:txBody>
                    <a:bodyPr/>
                    <a:lstStyle/>
                    <a:p>
                      <a:pPr algn="l" fontAlgn="ctr"/>
                      <a:r>
                        <a:rPr lang="en-IN" sz="1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Payments</a:t>
                      </a:r>
                      <a:endParaRPr lang="en-IN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042" marR="7941" marT="22869" marB="171519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P_</a:t>
                      </a:r>
                      <a:endParaRPr lang="en-IN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Arial Unicode MS"/>
                      </a:endParaRPr>
                    </a:p>
                  </a:txBody>
                  <a:tcPr marL="80042" marR="7941" marT="22869" marB="17151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P_2, P_4</a:t>
                      </a:r>
                      <a:endParaRPr lang="en-IN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Arial Unicode MS"/>
                      </a:endParaRPr>
                    </a:p>
                  </a:txBody>
                  <a:tcPr marL="80042" marR="7941" marT="22869" marB="17151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How and when customers pay</a:t>
                      </a:r>
                      <a:endParaRPr lang="en-US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042" marR="7941" marT="22869" marB="17151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4819118"/>
                  </a:ext>
                </a:extLst>
              </a:tr>
              <a:tr h="619019">
                <a:tc>
                  <a:txBody>
                    <a:bodyPr/>
                    <a:lstStyle/>
                    <a:p>
                      <a:pPr algn="l" fontAlgn="ctr"/>
                      <a:r>
                        <a:rPr lang="en-IN" sz="1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Risk Flags</a:t>
                      </a:r>
                      <a:endParaRPr lang="en-IN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042" marR="7941" marT="22869" marB="171519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5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R_</a:t>
                      </a:r>
                      <a:endParaRPr lang="en-IN" sz="1500" b="0" i="0" u="none" strike="noStrike" cap="none" spc="0">
                        <a:solidFill>
                          <a:schemeClr val="tx1"/>
                        </a:solidFill>
                        <a:effectLst/>
                        <a:latin typeface="Arial Unicode MS"/>
                      </a:endParaRPr>
                    </a:p>
                  </a:txBody>
                  <a:tcPr marL="80042" marR="7941" marT="22869" marB="17151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5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R_1, D_63</a:t>
                      </a:r>
                      <a:endParaRPr lang="en-IN" sz="15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rial Unicode MS"/>
                      </a:endParaRPr>
                    </a:p>
                  </a:txBody>
                  <a:tcPr marL="80042" marR="7941" marT="22869" marB="17151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5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Risk indicators or internal scores</a:t>
                      </a:r>
                      <a:endParaRPr lang="en-US" sz="15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042" marR="7941" marT="22869" marB="17151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9219976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3B3AA1E2-5CE6-DBE0-606D-1022660455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0623" y="2179782"/>
            <a:ext cx="5426923" cy="3917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759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F9DC8-7FE7-39EA-9EE5-767848286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One hot encoding </a:t>
            </a:r>
            <a:endParaRPr lang="en-IN" b="1" dirty="0"/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424B539B-7626-0237-A4D6-B53DE349B6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3910" y="-757382"/>
            <a:ext cx="10746554" cy="5467927"/>
          </a:xfr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B366370-9A73-4F2A-8C33-C318D78C5180}"/>
              </a:ext>
            </a:extLst>
          </p:cNvPr>
          <p:cNvSpPr txBox="1"/>
          <p:nvPr/>
        </p:nvSpPr>
        <p:spPr>
          <a:xfrm>
            <a:off x="626280" y="1397961"/>
            <a:ext cx="1041803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Encoding Strategy</a:t>
            </a:r>
          </a:p>
          <a:p>
            <a:r>
              <a:rPr lang="en-US" dirty="0"/>
              <a:t>To convert categorical variables into a machine-readable format, we applied </a:t>
            </a:r>
            <a:r>
              <a:rPr lang="en-US" b="1" dirty="0"/>
              <a:t>One-Hot Encoding</a:t>
            </a:r>
            <a:r>
              <a:rPr lang="en-US" dirty="0"/>
              <a:t>. This creates binary (0/1) columns for each category within a feature.</a:t>
            </a:r>
          </a:p>
          <a:p>
            <a:endParaRPr lang="en-US" dirty="0"/>
          </a:p>
          <a:p>
            <a:r>
              <a:rPr lang="en-US" dirty="0"/>
              <a:t>We have included 10 categorical features as mentioned in the image.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86B2416-5021-4644-E2C2-9947361EFC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962" y="4640357"/>
            <a:ext cx="11172669" cy="1433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2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AEF98-9487-89FE-A112-4EB272D09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Feature Engineering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10" name="Content Placeholder 4">
            <a:extLst>
              <a:ext uri="{FF2B5EF4-FFF2-40B4-BE49-F238E27FC236}">
                <a16:creationId xmlns:a16="http://schemas.microsoft.com/office/drawing/2014/main" id="{5C2755F7-82D8-697E-FEA8-DE29F8923C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74717752"/>
              </p:ext>
            </p:extLst>
          </p:nvPr>
        </p:nvGraphicFramePr>
        <p:xfrm>
          <a:off x="6392949" y="3403600"/>
          <a:ext cx="4618182" cy="14109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7083">
                  <a:extLst>
                    <a:ext uri="{9D8B030D-6E8A-4147-A177-3AD203B41FA5}">
                      <a16:colId xmlns:a16="http://schemas.microsoft.com/office/drawing/2014/main" val="4225076250"/>
                    </a:ext>
                  </a:extLst>
                </a:gridCol>
                <a:gridCol w="1611099">
                  <a:extLst>
                    <a:ext uri="{9D8B030D-6E8A-4147-A177-3AD203B41FA5}">
                      <a16:colId xmlns:a16="http://schemas.microsoft.com/office/drawing/2014/main" val="4101732072"/>
                    </a:ext>
                  </a:extLst>
                </a:gridCol>
              </a:tblGrid>
              <a:tr h="343760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Feature Category           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76200" marB="7620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No of Features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b"/>
                </a:tc>
                <a:extLst>
                  <a:ext uri="{0D108BD9-81ED-4DB2-BD59-A6C34878D82A}">
                    <a16:rowId xmlns:a16="http://schemas.microsoft.com/office/drawing/2014/main" val="1647500377"/>
                  </a:ext>
                </a:extLst>
              </a:tr>
              <a:tr h="213442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Delinquency            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1749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b"/>
                </a:tc>
                <a:extLst>
                  <a:ext uri="{0D108BD9-81ED-4DB2-BD59-A6C34878D82A}">
                    <a16:rowId xmlns:a16="http://schemas.microsoft.com/office/drawing/2014/main" val="1223830147"/>
                  </a:ext>
                </a:extLst>
              </a:tr>
              <a:tr h="213442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Balance                 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734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b"/>
                </a:tc>
                <a:extLst>
                  <a:ext uri="{0D108BD9-81ED-4DB2-BD59-A6C34878D82A}">
                    <a16:rowId xmlns:a16="http://schemas.microsoft.com/office/drawing/2014/main" val="4287365047"/>
                  </a:ext>
                </a:extLst>
              </a:tr>
              <a:tr h="213442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Risk                    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504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b"/>
                </a:tc>
                <a:extLst>
                  <a:ext uri="{0D108BD9-81ED-4DB2-BD59-A6C34878D82A}">
                    <a16:rowId xmlns:a16="http://schemas.microsoft.com/office/drawing/2014/main" val="739252221"/>
                  </a:ext>
                </a:extLst>
              </a:tr>
              <a:tr h="213442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Spend               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378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b"/>
                </a:tc>
                <a:extLst>
                  <a:ext uri="{0D108BD9-81ED-4DB2-BD59-A6C34878D82A}">
                    <a16:rowId xmlns:a16="http://schemas.microsoft.com/office/drawing/2014/main" val="2494923566"/>
                  </a:ext>
                </a:extLst>
              </a:tr>
              <a:tr h="213442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Payment                 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54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b"/>
                </a:tc>
                <a:extLst>
                  <a:ext uri="{0D108BD9-81ED-4DB2-BD59-A6C34878D82A}">
                    <a16:rowId xmlns:a16="http://schemas.microsoft.com/office/drawing/2014/main" val="2756209760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8FC0619E-658C-2B31-C08C-0D20DB403A57}"/>
              </a:ext>
            </a:extLst>
          </p:cNvPr>
          <p:cNvSpPr txBox="1">
            <a:spLocks/>
          </p:cNvSpPr>
          <p:nvPr/>
        </p:nvSpPr>
        <p:spPr>
          <a:xfrm>
            <a:off x="1196107" y="858982"/>
            <a:ext cx="10044023" cy="10714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Feature Engineering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E84BC4-DA9B-2151-43FA-E2904AF17DD1}"/>
              </a:ext>
            </a:extLst>
          </p:cNvPr>
          <p:cNvSpPr txBox="1"/>
          <p:nvPr/>
        </p:nvSpPr>
        <p:spPr>
          <a:xfrm>
            <a:off x="883920" y="1765884"/>
            <a:ext cx="4975704" cy="332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lnSpc>
                <a:spcPct val="80000"/>
              </a:lnSpc>
              <a:spcAft>
                <a:spcPts val="800"/>
              </a:spcAft>
              <a:buClr>
                <a:schemeClr val="accent1"/>
              </a:buClr>
            </a:pPr>
            <a:r>
              <a:rPr lang="en-IN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Types of Engineered Features:</a:t>
            </a:r>
          </a:p>
          <a:p>
            <a:pPr marL="342900" lvl="0" indent="-342900" defTabSz="914400">
              <a:lnSpc>
                <a:spcPct val="80000"/>
              </a:lnSpc>
              <a:spcAft>
                <a:spcPts val="800"/>
              </a:spcAft>
              <a:buClr>
                <a:schemeClr val="accent1"/>
              </a:buClr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IN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Numerical Features:</a:t>
            </a:r>
          </a:p>
          <a:p>
            <a:pPr marL="742950" lvl="1" indent="-285750" defTabSz="914400">
              <a:lnSpc>
                <a:spcPct val="80000"/>
              </a:lnSpc>
              <a:spcAft>
                <a:spcPts val="800"/>
              </a:spcAft>
              <a:buClr>
                <a:schemeClr val="accent1"/>
              </a:buClr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IN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Average:</a:t>
            </a:r>
            <a:r>
              <a:rPr lang="en-I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Mean values calculated over specified periods (e.g., last 6 or 12 months).</a:t>
            </a:r>
          </a:p>
          <a:p>
            <a:pPr marL="742950" lvl="1" indent="-285750" defTabSz="914400">
              <a:lnSpc>
                <a:spcPct val="80000"/>
              </a:lnSpc>
              <a:spcAft>
                <a:spcPts val="800"/>
              </a:spcAft>
              <a:buClr>
                <a:schemeClr val="accent1"/>
              </a:buClr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IN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Minimum: </a:t>
            </a:r>
            <a:r>
              <a:rPr lang="en-I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Lowest observed value over a defined timeframe.</a:t>
            </a:r>
          </a:p>
          <a:p>
            <a:pPr marL="742950" lvl="1" indent="-285750" defTabSz="914400">
              <a:lnSpc>
                <a:spcPct val="80000"/>
              </a:lnSpc>
              <a:spcAft>
                <a:spcPts val="800"/>
              </a:spcAft>
              <a:buClr>
                <a:schemeClr val="accent1"/>
              </a:buClr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IN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Maximum: </a:t>
            </a:r>
            <a:r>
              <a:rPr lang="en-I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Highest observed value, indicating peaks in behaviour.</a:t>
            </a:r>
          </a:p>
          <a:p>
            <a:pPr marL="742950" lvl="1" indent="-285750" defTabSz="914400">
              <a:lnSpc>
                <a:spcPct val="80000"/>
              </a:lnSpc>
              <a:spcAft>
                <a:spcPts val="800"/>
              </a:spcAft>
              <a:buClr>
                <a:schemeClr val="accent1"/>
              </a:buClr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IN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Sum: </a:t>
            </a:r>
            <a:r>
              <a:rPr lang="en-I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Total values aggregated over specified periods to capture overall activity.</a:t>
            </a:r>
          </a:p>
          <a:p>
            <a:pPr marL="742950" lvl="1" indent="-285750" defTabSz="914400">
              <a:lnSpc>
                <a:spcPct val="80000"/>
              </a:lnSpc>
              <a:spcAft>
                <a:spcPts val="800"/>
              </a:spcAft>
              <a:buClr>
                <a:schemeClr val="accent1"/>
              </a:buClr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IN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Latest Value: </a:t>
            </a:r>
            <a:r>
              <a:rPr lang="en-I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Most recent observation to capture the current value of a feature.</a:t>
            </a:r>
          </a:p>
          <a:p>
            <a:pPr marL="742950" lvl="1" indent="-285750" defTabSz="914400">
              <a:lnSpc>
                <a:spcPct val="80000"/>
              </a:lnSpc>
              <a:spcAft>
                <a:spcPts val="800"/>
              </a:spcAft>
              <a:buClr>
                <a:schemeClr val="accent1"/>
              </a:buClr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IN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Percentage Change: </a:t>
            </a:r>
            <a:r>
              <a:rPr lang="en-I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Year-over-year growth or decline metrics to assess trends.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0DFAB9-A1E5-5441-F6CC-E1B080E9F5A8}"/>
              </a:ext>
            </a:extLst>
          </p:cNvPr>
          <p:cNvSpPr txBox="1"/>
          <p:nvPr/>
        </p:nvSpPr>
        <p:spPr>
          <a:xfrm>
            <a:off x="6096000" y="1793565"/>
            <a:ext cx="5212080" cy="1991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15000"/>
              </a:lnSpc>
              <a:spcAft>
                <a:spcPts val="800"/>
              </a:spcAft>
              <a:defRPr sz="1400" b="1" kern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defRPr>
            </a:lvl1pPr>
            <a:lvl2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  <a:defRPr sz="1400" b="1" kern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defRPr>
            </a:lvl2pPr>
          </a:lstStyle>
          <a:p>
            <a:pPr defTabSz="914400">
              <a:lnSpc>
                <a:spcPct val="80000"/>
              </a:lnSpc>
              <a:buClr>
                <a:schemeClr val="accent1"/>
              </a:buClr>
            </a:pPr>
            <a:r>
              <a:rPr lang="en-IN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Categorical Features:</a:t>
            </a:r>
          </a:p>
          <a:p>
            <a:pPr lvl="1" defTabSz="914400">
              <a:lnSpc>
                <a:spcPct val="80000"/>
              </a:lnSpc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IN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Response Rate: </a:t>
            </a:r>
            <a:r>
              <a:rPr lang="en-IN" b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Percentage of times a feature meets a specific condition (e.g., spending above a threshold).</a:t>
            </a:r>
          </a:p>
          <a:p>
            <a:pPr lvl="1" defTabSz="914400">
              <a:lnSpc>
                <a:spcPct val="80000"/>
              </a:lnSpc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IN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Ever Response: </a:t>
            </a:r>
            <a:r>
              <a:rPr lang="en-IN" b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Indicates whether a specific </a:t>
            </a:r>
            <a:r>
              <a:rPr lang="en-IN" b="0" kern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behavior</a:t>
            </a:r>
            <a:r>
              <a:rPr lang="en-IN" b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 occurred at least once in a given period.</a:t>
            </a:r>
          </a:p>
          <a:p>
            <a:pPr lvl="1" defTabSz="914400">
              <a:lnSpc>
                <a:spcPct val="80000"/>
              </a:lnSpc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IN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Latest Value: </a:t>
            </a:r>
            <a:r>
              <a:rPr lang="en-IN" b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Most recent observation to capture the </a:t>
            </a:r>
            <a:r>
              <a:rPr lang="en-IN" b="0" dirty="0">
                <a:latin typeface="+mn-lt"/>
              </a:rPr>
              <a:t>current status of a feature.</a:t>
            </a:r>
          </a:p>
          <a:p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E30FFCA-9EAF-7BB4-D682-D21B68AEB78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32560183"/>
              </p:ext>
            </p:extLst>
          </p:nvPr>
        </p:nvGraphicFramePr>
        <p:xfrm>
          <a:off x="555321" y="4917385"/>
          <a:ext cx="11325593" cy="13271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0748">
                  <a:extLst>
                    <a:ext uri="{9D8B030D-6E8A-4147-A177-3AD203B41FA5}">
                      <a16:colId xmlns:a16="http://schemas.microsoft.com/office/drawing/2014/main" val="163537137"/>
                    </a:ext>
                  </a:extLst>
                </a:gridCol>
                <a:gridCol w="881033">
                  <a:extLst>
                    <a:ext uri="{9D8B030D-6E8A-4147-A177-3AD203B41FA5}">
                      <a16:colId xmlns:a16="http://schemas.microsoft.com/office/drawing/2014/main" val="32307973"/>
                    </a:ext>
                  </a:extLst>
                </a:gridCol>
                <a:gridCol w="633482">
                  <a:extLst>
                    <a:ext uri="{9D8B030D-6E8A-4147-A177-3AD203B41FA5}">
                      <a16:colId xmlns:a16="http://schemas.microsoft.com/office/drawing/2014/main" val="878250380"/>
                    </a:ext>
                  </a:extLst>
                </a:gridCol>
                <a:gridCol w="881033">
                  <a:extLst>
                    <a:ext uri="{9D8B030D-6E8A-4147-A177-3AD203B41FA5}">
                      <a16:colId xmlns:a16="http://schemas.microsoft.com/office/drawing/2014/main" val="3972982988"/>
                    </a:ext>
                  </a:extLst>
                </a:gridCol>
                <a:gridCol w="881033">
                  <a:extLst>
                    <a:ext uri="{9D8B030D-6E8A-4147-A177-3AD203B41FA5}">
                      <a16:colId xmlns:a16="http://schemas.microsoft.com/office/drawing/2014/main" val="2528974622"/>
                    </a:ext>
                  </a:extLst>
                </a:gridCol>
                <a:gridCol w="881033">
                  <a:extLst>
                    <a:ext uri="{9D8B030D-6E8A-4147-A177-3AD203B41FA5}">
                      <a16:colId xmlns:a16="http://schemas.microsoft.com/office/drawing/2014/main" val="2559392408"/>
                    </a:ext>
                  </a:extLst>
                </a:gridCol>
                <a:gridCol w="881033">
                  <a:extLst>
                    <a:ext uri="{9D8B030D-6E8A-4147-A177-3AD203B41FA5}">
                      <a16:colId xmlns:a16="http://schemas.microsoft.com/office/drawing/2014/main" val="3960518100"/>
                    </a:ext>
                  </a:extLst>
                </a:gridCol>
                <a:gridCol w="881033">
                  <a:extLst>
                    <a:ext uri="{9D8B030D-6E8A-4147-A177-3AD203B41FA5}">
                      <a16:colId xmlns:a16="http://schemas.microsoft.com/office/drawing/2014/main" val="3150132579"/>
                    </a:ext>
                  </a:extLst>
                </a:gridCol>
                <a:gridCol w="881033">
                  <a:extLst>
                    <a:ext uri="{9D8B030D-6E8A-4147-A177-3AD203B41FA5}">
                      <a16:colId xmlns:a16="http://schemas.microsoft.com/office/drawing/2014/main" val="1483460315"/>
                    </a:ext>
                  </a:extLst>
                </a:gridCol>
                <a:gridCol w="881033">
                  <a:extLst>
                    <a:ext uri="{9D8B030D-6E8A-4147-A177-3AD203B41FA5}">
                      <a16:colId xmlns:a16="http://schemas.microsoft.com/office/drawing/2014/main" val="3872702803"/>
                    </a:ext>
                  </a:extLst>
                </a:gridCol>
                <a:gridCol w="881033">
                  <a:extLst>
                    <a:ext uri="{9D8B030D-6E8A-4147-A177-3AD203B41FA5}">
                      <a16:colId xmlns:a16="http://schemas.microsoft.com/office/drawing/2014/main" val="3418241897"/>
                    </a:ext>
                  </a:extLst>
                </a:gridCol>
                <a:gridCol w="881033">
                  <a:extLst>
                    <a:ext uri="{9D8B030D-6E8A-4147-A177-3AD203B41FA5}">
                      <a16:colId xmlns:a16="http://schemas.microsoft.com/office/drawing/2014/main" val="3730451492"/>
                    </a:ext>
                  </a:extLst>
                </a:gridCol>
                <a:gridCol w="881033">
                  <a:extLst>
                    <a:ext uri="{9D8B030D-6E8A-4147-A177-3AD203B41FA5}">
                      <a16:colId xmlns:a16="http://schemas.microsoft.com/office/drawing/2014/main" val="1124348728"/>
                    </a:ext>
                  </a:extLst>
                </a:gridCol>
              </a:tblGrid>
              <a:tr h="265373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Feature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831" marR="7831" marT="31325" marB="31325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</a:rPr>
                        <a:t>Mean |SHAP|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831" marR="7831" marT="783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Count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831" marR="7831" marT="783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Mean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831" marR="7831" marT="783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Std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831" marR="7831" marT="783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</a:rPr>
                        <a:t>Min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831" marR="7831" marT="783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1%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831" marR="7831" marT="783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</a:rPr>
                        <a:t>5%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831" marR="7831" marT="783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</a:rPr>
                        <a:t>25%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831" marR="7831" marT="783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</a:rPr>
                        <a:t>Median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831" marR="7831" marT="783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</a:rPr>
                        <a:t>75%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831" marR="7831" marT="783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</a:rPr>
                        <a:t>99%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831" marR="7831" marT="783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Max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831" marR="7831" marT="7831" marB="0" anchor="b"/>
                </a:tc>
                <a:extLst>
                  <a:ext uri="{0D108BD9-81ED-4DB2-BD59-A6C34878D82A}">
                    <a16:rowId xmlns:a16="http://schemas.microsoft.com/office/drawing/2014/main" val="1269831876"/>
                  </a:ext>
                </a:extLst>
              </a:tr>
              <a:tr h="135077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P_2Ave3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831" marR="7831" marT="783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</a:rPr>
                        <a:t>0.739086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831" marR="7831" marT="783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 dirty="0">
                          <a:effectLst/>
                        </a:rPr>
                        <a:t>64248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831" marR="7831" marT="783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</a:rPr>
                        <a:t>0.633634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831" marR="7831" marT="783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</a:rPr>
                        <a:t>0.263685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831" marR="7831" marT="783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</a:rPr>
                        <a:t>-0.36685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831" marR="7831" marT="783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</a:rPr>
                        <a:t>-0.04551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831" marR="7831" marT="783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</a:rPr>
                        <a:t>0.14255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831" marR="7831" marT="783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</a:rPr>
                        <a:t>0.448151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831" marR="7831" marT="783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</a:rPr>
                        <a:t>0.677659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831" marR="7831" marT="783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</a:rPr>
                        <a:t>0.858786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831" marR="7831" marT="783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</a:rPr>
                        <a:t>1.004499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831" marR="7831" marT="783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</a:rPr>
                        <a:t>1.009965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831" marR="7831" marT="7831" marB="0" anchor="b"/>
                </a:tc>
                <a:extLst>
                  <a:ext uri="{0D108BD9-81ED-4DB2-BD59-A6C34878D82A}">
                    <a16:rowId xmlns:a16="http://schemas.microsoft.com/office/drawing/2014/main" val="2083117730"/>
                  </a:ext>
                </a:extLst>
              </a:tr>
              <a:tr h="135077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P_2Min3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831" marR="7831" marT="783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</a:rPr>
                        <a:t>0.611443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831" marR="7831" marT="783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</a:rPr>
                        <a:t>64248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831" marR="7831" marT="783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</a:rPr>
                        <a:t>0.609315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831" marR="7831" marT="783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</a:rPr>
                        <a:t>0.273377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831" marR="7831" marT="783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 dirty="0">
                          <a:effectLst/>
                        </a:rPr>
                        <a:t>-0.42058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831" marR="7831" marT="783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</a:rPr>
                        <a:t>-0.10511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831" marR="7831" marT="783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</a:rPr>
                        <a:t>0.08695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831" marR="7831" marT="783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</a:rPr>
                        <a:t>0.421151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831" marR="7831" marT="783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</a:rPr>
                        <a:t>0.655024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831" marR="7831" marT="783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</a:rPr>
                        <a:t>0.840732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831" marR="7831" marT="783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</a:rPr>
                        <a:t>1.001447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831" marR="7831" marT="783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</a:rPr>
                        <a:t>1.009965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831" marR="7831" marT="7831" marB="0" anchor="b"/>
                </a:tc>
                <a:extLst>
                  <a:ext uri="{0D108BD9-81ED-4DB2-BD59-A6C34878D82A}">
                    <a16:rowId xmlns:a16="http://schemas.microsoft.com/office/drawing/2014/main" val="2303407815"/>
                  </a:ext>
                </a:extLst>
              </a:tr>
              <a:tr h="135077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D_39Ave3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831" marR="7831" marT="783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</a:rPr>
                        <a:t>0.122494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831" marR="7831" marT="783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</a:rPr>
                        <a:t>64248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831" marR="7831" marT="783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</a:rPr>
                        <a:t>0.184167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831" marR="7831" marT="783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</a:rPr>
                        <a:t>0.276383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831" marR="7831" marT="783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</a:rPr>
                        <a:t>0.000007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831" marR="7831" marT="783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</a:rPr>
                        <a:t>0.001838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831" marR="7831" marT="783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</a:rPr>
                        <a:t>0.003268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831" marR="7831" marT="783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</a:rPr>
                        <a:t>0.00655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831" marR="7831" marT="783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</a:rPr>
                        <a:t>0.084197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831" marR="7831" marT="783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</a:rPr>
                        <a:t>0.268557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831" marR="7831" marT="783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</a:rPr>
                        <a:t>1.503917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831" marR="7831" marT="783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 dirty="0">
                          <a:effectLst/>
                        </a:rPr>
                        <a:t>4.449161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831" marR="7831" marT="7831" marB="0" anchor="b"/>
                </a:tc>
                <a:extLst>
                  <a:ext uri="{0D108BD9-81ED-4DB2-BD59-A6C34878D82A}">
                    <a16:rowId xmlns:a16="http://schemas.microsoft.com/office/drawing/2014/main" val="235191984"/>
                  </a:ext>
                </a:extLst>
              </a:tr>
              <a:tr h="135077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D_39Max3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831" marR="7831" marT="783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 dirty="0">
                          <a:effectLst/>
                        </a:rPr>
                        <a:t>0.168611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831" marR="7831" marT="783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</a:rPr>
                        <a:t>64248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831" marR="7831" marT="783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</a:rPr>
                        <a:t>0.334166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831" marR="7831" marT="783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</a:rPr>
                        <a:t>0.445368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831" marR="7831" marT="783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</a:rPr>
                        <a:t>0.000007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831" marR="7831" marT="783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</a:rPr>
                        <a:t>0.002849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831" marR="7831" marT="783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 dirty="0">
                          <a:effectLst/>
                        </a:rPr>
                        <a:t>0.005312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831" marR="7831" marT="783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</a:rPr>
                        <a:t>0.009275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831" marR="7831" marT="783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</a:rPr>
                        <a:t>0.206923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831" marR="7831" marT="783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</a:rPr>
                        <a:t>0.530282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831" marR="7831" marT="783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</a:rPr>
                        <a:t>2.295495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831" marR="7831" marT="783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</a:rPr>
                        <a:t>5.268649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831" marR="7831" marT="7831" marB="0" anchor="b"/>
                </a:tc>
                <a:extLst>
                  <a:ext uri="{0D108BD9-81ED-4DB2-BD59-A6C34878D82A}">
                    <a16:rowId xmlns:a16="http://schemas.microsoft.com/office/drawing/2014/main" val="283568718"/>
                  </a:ext>
                </a:extLst>
              </a:tr>
              <a:tr h="135077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D_39Max6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831" marR="7831" marT="783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</a:rPr>
                        <a:t>0.129803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831" marR="7831" marT="783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</a:rPr>
                        <a:t>64248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831" marR="7831" marT="783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</a:rPr>
                        <a:t>0.417674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831" marR="7831" marT="783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</a:rPr>
                        <a:t>0.463601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831" marR="7831" marT="783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</a:rPr>
                        <a:t>0.000007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831" marR="7831" marT="783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 dirty="0">
                          <a:effectLst/>
                        </a:rPr>
                        <a:t>0.005115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831" marR="7831" marT="783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 dirty="0">
                          <a:effectLst/>
                        </a:rPr>
                        <a:t>0.007495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831" marR="7831" marT="783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</a:rPr>
                        <a:t>0.033055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831" marR="7831" marT="783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</a:rPr>
                        <a:t>0.357742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831" marR="7831" marT="783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</a:rPr>
                        <a:t>0.621701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831" marR="7831" marT="783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</a:rPr>
                        <a:t>2.415726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831" marR="7831" marT="783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 dirty="0">
                          <a:effectLst/>
                        </a:rPr>
                        <a:t>5.268649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831" marR="7831" marT="7831" marB="0" anchor="b"/>
                </a:tc>
                <a:extLst>
                  <a:ext uri="{0D108BD9-81ED-4DB2-BD59-A6C34878D82A}">
                    <a16:rowId xmlns:a16="http://schemas.microsoft.com/office/drawing/2014/main" val="19679164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9083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20F8D-8DB2-0CC3-0C99-938B2EA83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Feature Selection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74686-5C93-FF21-B2BD-C1E326FC8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25757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200" b="1" dirty="0"/>
              <a:t>How We Selected Features </a:t>
            </a:r>
          </a:p>
          <a:p>
            <a:pPr marL="0" indent="0">
              <a:buNone/>
            </a:pPr>
            <a:r>
              <a:rPr lang="en-US" sz="1200" dirty="0"/>
              <a:t>To reduce dimensionality and improve model performance, we used a two-step feature importance approach with </a:t>
            </a:r>
            <a:r>
              <a:rPr lang="en-US" sz="1200" b="1" dirty="0" err="1"/>
              <a:t>XGBoost</a:t>
            </a:r>
            <a:r>
              <a:rPr lang="en-US" sz="1200" dirty="0"/>
              <a:t> models.</a:t>
            </a:r>
          </a:p>
          <a:p>
            <a:pPr>
              <a:buNone/>
            </a:pPr>
            <a:r>
              <a:rPr lang="en-US" sz="1200" dirty="0"/>
              <a:t>We trained </a:t>
            </a:r>
            <a:r>
              <a:rPr lang="en-US" sz="1200" b="1" dirty="0"/>
              <a:t>two different </a:t>
            </a:r>
            <a:r>
              <a:rPr lang="en-US" sz="1200" b="1" dirty="0" err="1"/>
              <a:t>XGBoost</a:t>
            </a:r>
            <a:r>
              <a:rPr lang="en-US" sz="1200" b="1" dirty="0"/>
              <a:t> models</a:t>
            </a:r>
            <a:r>
              <a:rPr lang="en-US" sz="12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Model 1</a:t>
            </a:r>
            <a:r>
              <a:rPr lang="en-US" sz="1200" dirty="0"/>
              <a:t>: Default parameters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Model 2</a:t>
            </a:r>
            <a:r>
              <a:rPr lang="en-US" sz="1200" dirty="0"/>
              <a:t>: Custom tuned with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300 trees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Learning rate: 0.5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Max depth: 4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Subsample: 50% of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Colsample_bytree: 50% of features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Default class weight scaled 5x for defaults (to address imbalance)</a:t>
            </a:r>
            <a:endParaRPr lang="en-US" sz="1200" b="1" dirty="0"/>
          </a:p>
          <a:p>
            <a:pPr marL="228600" lvl="1">
              <a:spcBef>
                <a:spcPts val="1000"/>
              </a:spcBef>
              <a:buNone/>
            </a:pPr>
            <a:r>
              <a:rPr lang="en-US" sz="1200" dirty="0"/>
              <a:t>We calculated feature importance from both models, based on how frequently and effectively each feature split the data.</a:t>
            </a:r>
          </a:p>
          <a:p>
            <a:pPr marL="228600" lvl="1">
              <a:spcBef>
                <a:spcPts val="1000"/>
              </a:spcBef>
              <a:buNone/>
            </a:pPr>
            <a:r>
              <a:rPr lang="en-US" sz="1200" dirty="0"/>
              <a:t>For selection, we kept all features that had at least 0.5% importance in either model.</a:t>
            </a:r>
          </a:p>
          <a:p>
            <a:pPr>
              <a:buNone/>
            </a:pPr>
            <a:r>
              <a:rPr lang="en-US" sz="1200" b="1" dirty="0"/>
              <a:t>Outcome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Features selected for final model: 17     </a:t>
            </a:r>
          </a:p>
          <a:p>
            <a:pPr marL="457200" lvl="1" indent="0">
              <a:buNone/>
            </a:pPr>
            <a:br>
              <a:rPr lang="en-US" sz="1200" dirty="0"/>
            </a:br>
            <a:br>
              <a:rPr lang="en-US" sz="1200" dirty="0"/>
            </a:br>
            <a:endParaRPr lang="en-US" sz="1200" dirty="0"/>
          </a:p>
          <a:p>
            <a:pPr marL="457200" lvl="1" indent="0">
              <a:buNone/>
            </a:pPr>
            <a:endParaRPr lang="en-US" sz="1200" dirty="0"/>
          </a:p>
          <a:p>
            <a:pPr marL="457200" lvl="1" indent="0">
              <a:buNone/>
            </a:pPr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IN" sz="1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A595E77-D803-1482-6E91-C7DD003201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4502" y="2678544"/>
            <a:ext cx="6805533" cy="1874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0414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D648C-0D79-3C0B-539D-3700C2CBB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 b="1" dirty="0"/>
              <a:t>Grid Search</a:t>
            </a:r>
            <a:endParaRPr lang="en-IN" sz="4800" b="1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0D93465-388A-B403-265E-7638007BAE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5818" y="2079424"/>
            <a:ext cx="4683506" cy="41190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fontAlgn="base">
              <a:buFont typeface="Wingdings" panose="05000000000000000000" pitchFamily="2" charset="2"/>
              <a:buChar char="q"/>
              <a:tabLst/>
            </a:pPr>
            <a:r>
              <a:rPr lang="en-US" altLang="en-US" dirty="0"/>
              <a:t>Performed </a:t>
            </a:r>
            <a:r>
              <a:rPr lang="en-US" altLang="en-US" b="1" dirty="0"/>
              <a:t>Grid Search </a:t>
            </a:r>
            <a:r>
              <a:rPr lang="en-US" altLang="en-US" dirty="0"/>
              <a:t>to optimize </a:t>
            </a:r>
            <a:r>
              <a:rPr lang="en-US" altLang="en-US" dirty="0" err="1"/>
              <a:t>XGBoost</a:t>
            </a:r>
            <a:r>
              <a:rPr lang="en-US" altLang="en-US" dirty="0"/>
              <a:t> model.</a:t>
            </a:r>
          </a:p>
          <a:p>
            <a:pPr marR="0" lvl="0" fontAlgn="base">
              <a:buFont typeface="Wingdings" panose="05000000000000000000" pitchFamily="2" charset="2"/>
              <a:buChar char="q"/>
              <a:tabLst/>
            </a:pPr>
            <a:r>
              <a:rPr lang="en-US" altLang="en-US" dirty="0"/>
              <a:t>Evaluated </a:t>
            </a:r>
            <a:r>
              <a:rPr lang="en-US" altLang="en-US" b="1" dirty="0"/>
              <a:t>72 model configurations</a:t>
            </a:r>
            <a:r>
              <a:rPr lang="en-US" altLang="en-US" dirty="0"/>
              <a:t>.</a:t>
            </a:r>
          </a:p>
          <a:p>
            <a:pPr marR="0" lvl="0" fontAlgn="base">
              <a:buFont typeface="Wingdings" panose="05000000000000000000" pitchFamily="2" charset="2"/>
              <a:buChar char="q"/>
              <a:tabLst/>
            </a:pPr>
            <a:r>
              <a:rPr lang="en-US" altLang="en-US" b="1" dirty="0"/>
              <a:t>Tuned:</a:t>
            </a:r>
          </a:p>
          <a:p>
            <a:pPr marR="0" lvl="0" fontAlgn="base">
              <a:buFont typeface="Wingdings" panose="05000000000000000000" pitchFamily="2" charset="2"/>
              <a:buChar char="§"/>
              <a:tabLst/>
            </a:pPr>
            <a:r>
              <a:rPr lang="en-US" altLang="en-US" dirty="0"/>
              <a:t>Number of trees</a:t>
            </a:r>
          </a:p>
          <a:p>
            <a:pPr marR="0" lvl="0" fontAlgn="base">
              <a:buFont typeface="Wingdings" panose="05000000000000000000" pitchFamily="2" charset="2"/>
              <a:buChar char="§"/>
              <a:tabLst/>
            </a:pPr>
            <a:r>
              <a:rPr lang="en-US" altLang="en-US" dirty="0"/>
              <a:t>Learning rate</a:t>
            </a:r>
          </a:p>
          <a:p>
            <a:pPr marR="0" lvl="0" fontAlgn="base">
              <a:buFont typeface="Wingdings" panose="05000000000000000000" pitchFamily="2" charset="2"/>
              <a:buChar char="§"/>
              <a:tabLst/>
            </a:pPr>
            <a:r>
              <a:rPr lang="en-US" altLang="en-US" dirty="0"/>
              <a:t>Data &amp; feature subsampling</a:t>
            </a:r>
          </a:p>
          <a:p>
            <a:pPr marR="0" lvl="0" fontAlgn="base">
              <a:buFont typeface="Wingdings" panose="05000000000000000000" pitchFamily="2" charset="2"/>
              <a:buChar char="§"/>
              <a:tabLst/>
            </a:pPr>
            <a:r>
              <a:rPr lang="en-US" altLang="en-US" dirty="0"/>
              <a:t>Class imbalance handling</a:t>
            </a:r>
          </a:p>
          <a:p>
            <a:pPr marR="0" lvl="0" fontAlgn="base">
              <a:buFont typeface="Wingdings" panose="05000000000000000000" pitchFamily="2" charset="2"/>
              <a:buChar char="q"/>
              <a:tabLst/>
            </a:pPr>
            <a:r>
              <a:rPr lang="en-US" altLang="en-US" b="1" dirty="0"/>
              <a:t>Goal</a:t>
            </a:r>
            <a:r>
              <a:rPr lang="en-US" altLang="en-US" dirty="0"/>
              <a:t>: Improve performance by balancing </a:t>
            </a:r>
            <a:r>
              <a:rPr lang="en-US" altLang="en-US" b="1" dirty="0"/>
              <a:t>bias vs. variance.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99376AA-E104-D5D2-04EE-2B6D1CA636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6385953"/>
              </p:ext>
            </p:extLst>
          </p:nvPr>
        </p:nvGraphicFramePr>
        <p:xfrm>
          <a:off x="5708073" y="1939636"/>
          <a:ext cx="6216072" cy="4258864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2039397">
                  <a:extLst>
                    <a:ext uri="{9D8B030D-6E8A-4147-A177-3AD203B41FA5}">
                      <a16:colId xmlns:a16="http://schemas.microsoft.com/office/drawing/2014/main" val="1438602507"/>
                    </a:ext>
                  </a:extLst>
                </a:gridCol>
                <a:gridCol w="3038954">
                  <a:extLst>
                    <a:ext uri="{9D8B030D-6E8A-4147-A177-3AD203B41FA5}">
                      <a16:colId xmlns:a16="http://schemas.microsoft.com/office/drawing/2014/main" val="4263457597"/>
                    </a:ext>
                  </a:extLst>
                </a:gridCol>
                <a:gridCol w="1137721">
                  <a:extLst>
                    <a:ext uri="{9D8B030D-6E8A-4147-A177-3AD203B41FA5}">
                      <a16:colId xmlns:a16="http://schemas.microsoft.com/office/drawing/2014/main" val="2957922850"/>
                    </a:ext>
                  </a:extLst>
                </a:gridCol>
              </a:tblGrid>
              <a:tr h="543052"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 dirty="0">
                          <a:effectLst/>
                        </a:rPr>
                        <a:t>Parameter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217" marR="8217" marT="82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>
                          <a:effectLst/>
                        </a:rPr>
                        <a:t>Rationale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217" marR="8217" marT="82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>
                          <a:effectLst/>
                        </a:rPr>
                        <a:t>Values Tried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217" marR="8217" marT="8217" marB="0" anchor="ctr"/>
                </a:tc>
                <a:extLst>
                  <a:ext uri="{0D108BD9-81ED-4DB2-BD59-A6C34878D82A}">
                    <a16:rowId xmlns:a16="http://schemas.microsoft.com/office/drawing/2014/main" val="2022450389"/>
                  </a:ext>
                </a:extLst>
              </a:tr>
              <a:tr h="543052">
                <a:tc>
                  <a:txBody>
                    <a:bodyPr/>
                    <a:lstStyle/>
                    <a:p>
                      <a:pPr algn="l" fontAlgn="ctr"/>
                      <a:r>
                        <a:rPr lang="en-IN" sz="1300" u="none" strike="noStrike" dirty="0" err="1">
                          <a:effectLst/>
                        </a:rPr>
                        <a:t>n_estimators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8217" marR="8217" marT="82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Controls number of trees; higher = more complexity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217" marR="8217" marT="82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>
                          <a:effectLst/>
                        </a:rPr>
                        <a:t>50, 100, 300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217" marR="8217" marT="8217" marB="0" anchor="ctr"/>
                </a:tc>
                <a:extLst>
                  <a:ext uri="{0D108BD9-81ED-4DB2-BD59-A6C34878D82A}">
                    <a16:rowId xmlns:a16="http://schemas.microsoft.com/office/drawing/2014/main" val="2835942959"/>
                  </a:ext>
                </a:extLst>
              </a:tr>
              <a:tr h="79319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300" u="none" strike="noStrike" dirty="0" err="1">
                          <a:effectLst/>
                        </a:rPr>
                        <a:t>learning_rate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8217" marR="8217" marT="82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Small values make learning more stable and avoid overfitting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217" marR="8217" marT="82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>
                          <a:effectLst/>
                        </a:rPr>
                        <a:t>0.01, 0.1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217" marR="8217" marT="8217" marB="0" anchor="ctr"/>
                </a:tc>
                <a:extLst>
                  <a:ext uri="{0D108BD9-81ED-4DB2-BD59-A6C34878D82A}">
                    <a16:rowId xmlns:a16="http://schemas.microsoft.com/office/drawing/2014/main" val="1857301267"/>
                  </a:ext>
                </a:extLst>
              </a:tr>
              <a:tr h="79319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300" u="none" strike="noStrike" dirty="0">
                          <a:effectLst/>
                        </a:rPr>
                        <a:t>subsample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8217" marR="8217" marT="82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Prevents overfitting by training each tree on a random subset of data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217" marR="8217" marT="82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>
                          <a:effectLst/>
                        </a:rPr>
                        <a:t>0.5, 0.8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217" marR="8217" marT="8217" marB="0" anchor="ctr"/>
                </a:tc>
                <a:extLst>
                  <a:ext uri="{0D108BD9-81ED-4DB2-BD59-A6C34878D82A}">
                    <a16:rowId xmlns:a16="http://schemas.microsoft.com/office/drawing/2014/main" val="452663607"/>
                  </a:ext>
                </a:extLst>
              </a:tr>
              <a:tr h="79319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300" u="none" strike="noStrike" dirty="0" err="1">
                          <a:effectLst/>
                        </a:rPr>
                        <a:t>colsample_bytree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8217" marR="8217" marT="82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Trains each tree using a subset of features to reduce correlation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217" marR="8217" marT="82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>
                          <a:effectLst/>
                        </a:rPr>
                        <a:t>0.5, 1.0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217" marR="8217" marT="8217" marB="0" anchor="ctr"/>
                </a:tc>
                <a:extLst>
                  <a:ext uri="{0D108BD9-81ED-4DB2-BD59-A6C34878D82A}">
                    <a16:rowId xmlns:a16="http://schemas.microsoft.com/office/drawing/2014/main" val="1509418369"/>
                  </a:ext>
                </a:extLst>
              </a:tr>
              <a:tr h="79319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300" u="none" strike="noStrike">
                          <a:effectLst/>
                        </a:rPr>
                        <a:t>scale_pos_weight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8217" marR="8217" marT="82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Gives more importance to rare class (defaults) to address class imbalance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217" marR="8217" marT="82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 dirty="0">
                          <a:effectLst/>
                        </a:rPr>
                        <a:t>1, 5, 10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217" marR="8217" marT="8217" marB="0" anchor="ctr"/>
                </a:tc>
                <a:extLst>
                  <a:ext uri="{0D108BD9-81ED-4DB2-BD59-A6C34878D82A}">
                    <a16:rowId xmlns:a16="http://schemas.microsoft.com/office/drawing/2014/main" val="11160796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62008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A6196-3765-D747-1291-1C008A24E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Grid search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24AFC44-B4D5-F485-9F9D-DEFC968C93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86303" y="1846263"/>
            <a:ext cx="8479720" cy="4022725"/>
          </a:xfrm>
        </p:spPr>
      </p:pic>
    </p:spTree>
    <p:extLst>
      <p:ext uri="{BB962C8B-B14F-4D97-AF65-F5344CB8AC3E}">
        <p14:creationId xmlns:p14="http://schemas.microsoft.com/office/powerpoint/2010/main" val="29679075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C7267-7208-F1F9-603D-3D775D0AE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95747"/>
            <a:ext cx="10058400" cy="1450757"/>
          </a:xfrm>
        </p:spPr>
        <p:txBody>
          <a:bodyPr/>
          <a:lstStyle/>
          <a:p>
            <a:r>
              <a:rPr lang="en-US" b="1" dirty="0"/>
              <a:t>Grid Search (Model selection)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506CFDB-C909-699D-CEB2-74D693A4D3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97236" y="1846263"/>
            <a:ext cx="5386360" cy="4022725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1CF59BA-E6DF-334C-EDC5-6D712F5AE8C1}"/>
              </a:ext>
            </a:extLst>
          </p:cNvPr>
          <p:cNvSpPr txBox="1"/>
          <p:nvPr/>
        </p:nvSpPr>
        <p:spPr>
          <a:xfrm>
            <a:off x="782965" y="2411723"/>
            <a:ext cx="4814271" cy="3734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Chose model with highe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 AUC and low variance gap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between train &amp; test data.</a:t>
            </a:r>
          </a:p>
          <a:p>
            <a:pPr marL="285750" indent="-28575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Avoided overfitting: 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Some models excelled in training but dropped in Test2.</a:t>
            </a:r>
          </a:p>
          <a:p>
            <a:pPr marL="285750" indent="-28575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Balanced models were closer to the 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diagonal line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ensuring generalization.</a:t>
            </a:r>
          </a:p>
          <a:p>
            <a:pPr marL="285750" indent="-28575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Final model 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performed well on Test2 without overfitting.</a:t>
            </a:r>
            <a:b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b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I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0178041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385B9-96C7-7F0B-CB2C-8BE0A5934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D29F5-EA69-E08A-C152-61A244AF3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Grid Search (Model selection)</a:t>
            </a:r>
            <a:endParaRPr lang="en-IN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828CDE-58AB-2F50-944E-C6BA97B619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305" y="1931452"/>
            <a:ext cx="5279012" cy="39425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792AE28-8614-CC81-CCC2-ACE508F6913C}"/>
              </a:ext>
            </a:extLst>
          </p:cNvPr>
          <p:cNvSpPr txBox="1"/>
          <p:nvPr/>
        </p:nvSpPr>
        <p:spPr>
          <a:xfrm>
            <a:off x="1097280" y="1555931"/>
            <a:ext cx="4492172" cy="46935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  <a:p>
            <a:pPr marL="285750" indent="-28575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sz="2400" dirty="0"/>
              <a:t>The </a:t>
            </a:r>
            <a:r>
              <a:rPr lang="en-US" sz="2400" b="1" dirty="0"/>
              <a:t>first plot </a:t>
            </a:r>
            <a:r>
              <a:rPr lang="en-US" sz="2400" dirty="0"/>
              <a:t>helped us find models that are accurate and stable.</a:t>
            </a:r>
          </a:p>
          <a:p>
            <a:pPr marL="285750" indent="-28575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sz="2400" dirty="0"/>
              <a:t>The </a:t>
            </a:r>
            <a:r>
              <a:rPr lang="en-US" sz="2400" b="1" dirty="0"/>
              <a:t>second plot </a:t>
            </a:r>
            <a:r>
              <a:rPr lang="en-US" sz="2400" dirty="0"/>
              <a:t>helped us avoid models that overfit.</a:t>
            </a:r>
          </a:p>
          <a:p>
            <a:pPr marL="285750" indent="-28575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sz="2400" dirty="0"/>
              <a:t>We chose a model that was </a:t>
            </a:r>
            <a:r>
              <a:rPr lang="en-US" sz="2400" b="1" dirty="0"/>
              <a:t>high-performing, consistent, and generalizes well </a:t>
            </a:r>
            <a:r>
              <a:rPr lang="en-US" sz="2400" dirty="0"/>
              <a:t>— the best all-around choice from the grid search.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7927543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8E8BF-3D54-C66E-9D72-68CC04FD8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XGBoost</a:t>
            </a:r>
            <a:r>
              <a:rPr lang="en-US" b="1" dirty="0"/>
              <a:t> Final model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8243CE9-5326-83ED-BB86-FE1E28CA6B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91804" y="2054803"/>
            <a:ext cx="6743178" cy="4022725"/>
          </a:xfr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716AFB2-1886-A9B9-89F3-EFDF17DE48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3861261"/>
              </p:ext>
            </p:extLst>
          </p:nvPr>
        </p:nvGraphicFramePr>
        <p:xfrm>
          <a:off x="157018" y="1910918"/>
          <a:ext cx="5135418" cy="41666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19113">
                  <a:extLst>
                    <a:ext uri="{9D8B030D-6E8A-4147-A177-3AD203B41FA5}">
                      <a16:colId xmlns:a16="http://schemas.microsoft.com/office/drawing/2014/main" val="1107523539"/>
                    </a:ext>
                  </a:extLst>
                </a:gridCol>
                <a:gridCol w="1516305">
                  <a:extLst>
                    <a:ext uri="{9D8B030D-6E8A-4147-A177-3AD203B41FA5}">
                      <a16:colId xmlns:a16="http://schemas.microsoft.com/office/drawing/2014/main" val="53561025"/>
                    </a:ext>
                  </a:extLst>
                </a:gridCol>
              </a:tblGrid>
              <a:tr h="37482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u="none" strike="noStrike" dirty="0">
                          <a:effectLst/>
                        </a:rPr>
                        <a:t>Best Model Parameters: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25400" marB="2540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Values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20854650"/>
                  </a:ext>
                </a:extLst>
              </a:tr>
              <a:tr h="315983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u="none" strike="noStrike" dirty="0">
                          <a:effectLst/>
                        </a:rPr>
                        <a:t>Model Number         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u="none" strike="noStrike">
                          <a:effectLst/>
                        </a:rPr>
                        <a:t>69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77838783"/>
                  </a:ext>
                </a:extLst>
              </a:tr>
              <a:tr h="315983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u="none" strike="noStrike" dirty="0" err="1">
                          <a:effectLst/>
                        </a:rPr>
                        <a:t>n_estimators</a:t>
                      </a:r>
                      <a:r>
                        <a:rPr lang="en-IN" sz="1800" b="0" u="none" strike="noStrike" dirty="0">
                          <a:effectLst/>
                        </a:rPr>
                        <a:t>        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u="none" strike="noStrike">
                          <a:effectLst/>
                        </a:rPr>
                        <a:t>300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419866141"/>
                  </a:ext>
                </a:extLst>
              </a:tr>
              <a:tr h="315983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u="none" strike="noStrike" dirty="0" err="1">
                          <a:effectLst/>
                        </a:rPr>
                        <a:t>learning_rate</a:t>
                      </a:r>
                      <a:r>
                        <a:rPr lang="en-IN" sz="1800" b="0" u="none" strike="noStrike" dirty="0">
                          <a:effectLst/>
                        </a:rPr>
                        <a:t>       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u="none" strike="noStrike">
                          <a:effectLst/>
                        </a:rPr>
                        <a:t>0.1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156021241"/>
                  </a:ext>
                </a:extLst>
              </a:tr>
              <a:tr h="315983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u="none" strike="noStrike" dirty="0">
                          <a:effectLst/>
                        </a:rPr>
                        <a:t>Subsample %     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u="none" strike="noStrike">
                          <a:effectLst/>
                        </a:rPr>
                        <a:t>80.00%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871520217"/>
                  </a:ext>
                </a:extLst>
              </a:tr>
              <a:tr h="315983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u="none" strike="noStrike" dirty="0">
                          <a:effectLst/>
                        </a:rPr>
                        <a:t>Features          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u="none" strike="noStrike">
                          <a:effectLst/>
                        </a:rPr>
                        <a:t>100.00%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118394567"/>
                  </a:ext>
                </a:extLst>
              </a:tr>
              <a:tr h="315983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u="none" strike="noStrike" dirty="0">
                          <a:effectLst/>
                        </a:rPr>
                        <a:t>% Weight of Default  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u="none" strike="noStrike" dirty="0">
                          <a:effectLst/>
                        </a:rPr>
                        <a:t>1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952443651"/>
                  </a:ext>
                </a:extLst>
              </a:tr>
              <a:tr h="63196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u="none" strike="noStrike" dirty="0">
                          <a:effectLst/>
                        </a:rPr>
                        <a:t>AUC Train           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u="none" strike="noStrike" dirty="0">
                          <a:effectLst/>
                        </a:rPr>
                        <a:t>0.980983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103897693"/>
                  </a:ext>
                </a:extLst>
              </a:tr>
              <a:tr h="63196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u="none" strike="noStrike" dirty="0">
                          <a:effectLst/>
                        </a:rPr>
                        <a:t>AUC Test 1           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u="none" strike="noStrike">
                          <a:effectLst/>
                        </a:rPr>
                        <a:t>0.946963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171846678"/>
                  </a:ext>
                </a:extLst>
              </a:tr>
              <a:tr h="63196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u="none" strike="noStrike" dirty="0">
                          <a:effectLst/>
                        </a:rPr>
                        <a:t>AUC Test 2           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u="none" strike="noStrike" dirty="0">
                          <a:effectLst/>
                        </a:rPr>
                        <a:t>0.945436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643644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07329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0B2BC-F70F-35E5-5F23-B736D493D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SHAP ANALYSIS - BEESWARM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43CBA8C-2F43-80EB-E21F-EA494691A4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6512" y="1840305"/>
            <a:ext cx="6075757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1B31DF-F3A9-87C0-F6A9-9BF4E200A7DE}"/>
              </a:ext>
            </a:extLst>
          </p:cNvPr>
          <p:cNvSpPr txBox="1"/>
          <p:nvPr/>
        </p:nvSpPr>
        <p:spPr>
          <a:xfrm>
            <a:off x="6702552" y="2298444"/>
            <a:ext cx="5303520" cy="3552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b="1" dirty="0"/>
              <a:t>P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_2Ave3 (3-month avg. Payment Feature) →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Most impactful 🟥 High → Higher risk | 🟦 Low → Lower risk</a:t>
            </a:r>
          </a:p>
          <a:p>
            <a:pPr marL="285750" indent="-28575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P_2Min3 →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Similar to P_2Ave3, lower recent payments reduce risk</a:t>
            </a:r>
          </a:p>
          <a:p>
            <a:pPr marL="285750" indent="-28575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Balance Features (B_2Ave3, B_3Ave3, B_4Max3) →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Can increase or decrease risk based on context</a:t>
            </a:r>
          </a:p>
          <a:p>
            <a:pPr marL="285750" indent="-28575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Stability (S_3Ave12) &amp; Delinquency (D_39Max3) →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Help distinguish stable vs. risky customers</a:t>
            </a:r>
          </a:p>
          <a:p>
            <a:pPr marL="285750" indent="-28575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Lower-ranked Features (R_1Max3, R_1Ave3) →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Still relevant but with lesser impact</a:t>
            </a:r>
          </a:p>
        </p:txBody>
      </p:sp>
    </p:spTree>
    <p:extLst>
      <p:ext uri="{BB962C8B-B14F-4D97-AF65-F5344CB8AC3E}">
        <p14:creationId xmlns:p14="http://schemas.microsoft.com/office/powerpoint/2010/main" val="40014785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6A6D3-8CA9-8D42-3680-B391C0C4B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SHAP ANALYSIS – WATERFALL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705095C-B8DC-4217-FE4D-614E833769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6135" y="2156987"/>
            <a:ext cx="6675699" cy="3791403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1394BA4-C282-4592-28B0-A8320E55073C}"/>
              </a:ext>
            </a:extLst>
          </p:cNvPr>
          <p:cNvSpPr txBox="1"/>
          <p:nvPr/>
        </p:nvSpPr>
        <p:spPr>
          <a:xfrm>
            <a:off x="7297835" y="2027005"/>
            <a:ext cx="4782419" cy="4051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b="1" dirty="0"/>
              <a:t>P_2Ave3 &amp; P_2Min3 </a:t>
            </a:r>
            <a:r>
              <a:rPr lang="en-US" dirty="0"/>
              <a:t>→ Lowered the score the most (–1.32, –1.12) → Low recent payments = Lower risk</a:t>
            </a:r>
          </a:p>
          <a:p>
            <a:pPr marL="285750" indent="-28575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b="1" dirty="0"/>
              <a:t> Negative Contributors → </a:t>
            </a:r>
            <a:r>
              <a:rPr lang="en-US" dirty="0"/>
              <a:t>B_4Max3,  S_3Ave12, D_39Ave3 → Further reduced risk  score</a:t>
            </a:r>
          </a:p>
          <a:p>
            <a:pPr marL="285750" indent="-28575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b="1" dirty="0"/>
              <a:t> Interpretability → </a:t>
            </a:r>
            <a:r>
              <a:rPr lang="en-US" dirty="0"/>
              <a:t>Model transparently shows feature influence</a:t>
            </a:r>
          </a:p>
          <a:p>
            <a:pPr marL="285750" indent="-28575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b="1" dirty="0"/>
              <a:t> Business Impact → </a:t>
            </a:r>
            <a:r>
              <a:rPr lang="en-US" dirty="0"/>
              <a:t>Can justify credit decisions &amp; suggest improvements</a:t>
            </a:r>
          </a:p>
          <a:p>
            <a:pPr marL="285750" indent="-28575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b="1" dirty="0"/>
              <a:t> Optimization </a:t>
            </a:r>
            <a:r>
              <a:rPr lang="en-US" b="1" dirty="0" err="1"/>
              <a:t>Tip</a:t>
            </a:r>
            <a:r>
              <a:rPr lang="en-US" dirty="0" err="1"/>
              <a:t>Increasing</a:t>
            </a:r>
            <a:r>
              <a:rPr lang="en-US" dirty="0"/>
              <a:t> P_2Ave3 may further reduce risk, while R_1Sum3 &amp; B_3Ave3 have smaller effects</a:t>
            </a:r>
            <a:r>
              <a:rPr lang="en-US" b="1" dirty="0"/>
              <a:t> →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04235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Neural Network – Data Processing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C49C27-07C2-8736-72EE-42EE47EEC2F1}"/>
              </a:ext>
            </a:extLst>
          </p:cNvPr>
          <p:cNvSpPr txBox="1"/>
          <p:nvPr/>
        </p:nvSpPr>
        <p:spPr>
          <a:xfrm>
            <a:off x="402347" y="1880505"/>
            <a:ext cx="7014454" cy="42709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Feature Selection</a:t>
            </a:r>
          </a:p>
          <a:p>
            <a:pPr marL="171450" indent="-17145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We used the 17 most important features selected from the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XGBoost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model using SHAP values and feature importance.</a:t>
            </a:r>
          </a:p>
          <a:p>
            <a:pPr marL="171450" indent="-17145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These features were passed directly to the Neural Network model.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Neural Network receives data that is:</a:t>
            </a:r>
          </a:p>
          <a:p>
            <a:pPr marL="171450" lvl="1" indent="-17145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Clean (no missing values)</a:t>
            </a:r>
          </a:p>
          <a:p>
            <a:pPr marL="171450" lvl="1" indent="-17145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Normalized</a:t>
            </a:r>
          </a:p>
          <a:p>
            <a:pPr marL="171450" lvl="1" indent="-17145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Outlier-handled</a:t>
            </a:r>
          </a:p>
          <a:p>
            <a:pPr marL="171450" lvl="1" indent="-17145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Feature-selected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This results in more stable training, faster convergence, and better generalization.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78AF4D8-4664-1F00-0EB1-D74592D274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0618" y="1828800"/>
            <a:ext cx="4267199" cy="432261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0BBAA-C3D9-573D-649F-ADA214D20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 b="1" dirty="0"/>
              <a:t>Neural Network – Grid search</a:t>
            </a:r>
            <a:endParaRPr lang="en-IN" sz="4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FF4EB-ABF3-FC03-92B4-92EFD8405E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480" y="1973098"/>
            <a:ext cx="5497410" cy="3639450"/>
          </a:xfrm>
        </p:spPr>
        <p:txBody>
          <a:bodyPr anchor="ctr"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400" b="1" dirty="0"/>
              <a:t>Approach</a:t>
            </a:r>
            <a:r>
              <a:rPr lang="en-US" sz="2400" dirty="0"/>
              <a:t> → </a:t>
            </a:r>
            <a:r>
              <a:rPr lang="en-US" sz="2400" b="1" dirty="0"/>
              <a:t>Manual Grid Search</a:t>
            </a:r>
            <a:r>
              <a:rPr lang="en-US" sz="2400" dirty="0"/>
              <a:t> over various hyperparameters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b="1" dirty="0"/>
              <a:t>Systematic Testing</a:t>
            </a:r>
            <a:r>
              <a:rPr lang="en-US" sz="2400" dirty="0"/>
              <a:t> → Evaluated multiple configurations instead of guessing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b="1" dirty="0"/>
              <a:t>Objective Selection</a:t>
            </a:r>
            <a:r>
              <a:rPr lang="en-US" sz="2400" dirty="0"/>
              <a:t> → Identified the </a:t>
            </a:r>
            <a:r>
              <a:rPr lang="en-US" sz="2400" b="1" dirty="0"/>
              <a:t>best architecture</a:t>
            </a:r>
            <a:r>
              <a:rPr lang="en-US" sz="2400" dirty="0"/>
              <a:t> based on performance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b="1" dirty="0"/>
              <a:t>Data-Driven Tuning</a:t>
            </a:r>
            <a:r>
              <a:rPr lang="en-US" sz="2400" dirty="0"/>
              <a:t> → Ensured the final model was </a:t>
            </a:r>
            <a:r>
              <a:rPr lang="en-US" sz="2400" b="1" dirty="0"/>
              <a:t>optimized with evidence</a:t>
            </a:r>
            <a:endParaRPr lang="en-US" sz="24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1864D7B-0ADC-1F9A-7051-A6EB132791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7618992"/>
              </p:ext>
            </p:extLst>
          </p:nvPr>
        </p:nvGraphicFramePr>
        <p:xfrm>
          <a:off x="6096000" y="2090107"/>
          <a:ext cx="5816600" cy="355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0500">
                  <a:extLst>
                    <a:ext uri="{9D8B030D-6E8A-4147-A177-3AD203B41FA5}">
                      <a16:colId xmlns:a16="http://schemas.microsoft.com/office/drawing/2014/main" val="165504861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41968143"/>
                    </a:ext>
                  </a:extLst>
                </a:gridCol>
                <a:gridCol w="3213100">
                  <a:extLst>
                    <a:ext uri="{9D8B030D-6E8A-4147-A177-3AD203B41FA5}">
                      <a16:colId xmlns:a16="http://schemas.microsoft.com/office/drawing/2014/main" val="329211902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u="none" strike="noStrike">
                          <a:effectLst/>
                        </a:rPr>
                        <a:t>Hyperparameter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0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u="none" strike="noStrike">
                          <a:effectLst/>
                        </a:rPr>
                        <a:t>Values Tried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0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u="none" strike="noStrike">
                          <a:effectLst/>
                        </a:rPr>
                        <a:t>Why?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0" marR="9525" marT="9525" marB="0" anchor="ctr"/>
                </a:tc>
                <a:extLst>
                  <a:ext uri="{0D108BD9-81ED-4DB2-BD59-A6C34878D82A}">
                    <a16:rowId xmlns:a16="http://schemas.microsoft.com/office/drawing/2014/main" val="91026189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u="none" strike="noStrike">
                          <a:effectLst/>
                        </a:rPr>
                        <a:t>Hidden Layers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0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u="none" strike="noStrike">
                          <a:effectLst/>
                        </a:rPr>
                        <a:t>2, 4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0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u="none" strike="noStrike">
                          <a:effectLst/>
                        </a:rPr>
                        <a:t>Test depth and representational power of the neural network.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0" marR="9525" marT="9525" marB="0" anchor="ctr"/>
                </a:tc>
                <a:extLst>
                  <a:ext uri="{0D108BD9-81ED-4DB2-BD59-A6C34878D82A}">
                    <a16:rowId xmlns:a16="http://schemas.microsoft.com/office/drawing/2014/main" val="98058934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u="none" strike="noStrike">
                          <a:effectLst/>
                        </a:rPr>
                        <a:t>Nodes per Layer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0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u="none" strike="noStrike">
                          <a:effectLst/>
                        </a:rPr>
                        <a:t>4, 6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0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u="none" strike="noStrike">
                          <a:effectLst/>
                        </a:rPr>
                        <a:t>Control the model's capacity to learn complex patterns.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0" marR="9525" marT="9525" marB="0" anchor="ctr"/>
                </a:tc>
                <a:extLst>
                  <a:ext uri="{0D108BD9-81ED-4DB2-BD59-A6C34878D82A}">
                    <a16:rowId xmlns:a16="http://schemas.microsoft.com/office/drawing/2014/main" val="169814744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u="none" strike="noStrike">
                          <a:effectLst/>
                        </a:rPr>
                        <a:t>Activation Function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0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u="none" strike="noStrike">
                          <a:effectLst/>
                        </a:rPr>
                        <a:t>'relu', 'tanh'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0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u="none" strike="noStrike">
                          <a:effectLst/>
                        </a:rPr>
                        <a:t>Compare performance and training stability with different activations.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0" marR="9525" marT="9525" marB="0" anchor="ctr"/>
                </a:tc>
                <a:extLst>
                  <a:ext uri="{0D108BD9-81ED-4DB2-BD59-A6C34878D82A}">
                    <a16:rowId xmlns:a16="http://schemas.microsoft.com/office/drawing/2014/main" val="890739438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u="none" strike="noStrike">
                          <a:effectLst/>
                        </a:rPr>
                        <a:t>Dropout Rate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0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u="none" strike="noStrike">
                          <a:effectLst/>
                        </a:rPr>
                        <a:t>0.5, 0.0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0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u="none" strike="noStrike">
                          <a:effectLst/>
                        </a:rPr>
                        <a:t>Reduce overfitting (50% dropout) or test without dropout (0%).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0" marR="9525" marT="9525" marB="0" anchor="ctr"/>
                </a:tc>
                <a:extLst>
                  <a:ext uri="{0D108BD9-81ED-4DB2-BD59-A6C34878D82A}">
                    <a16:rowId xmlns:a16="http://schemas.microsoft.com/office/drawing/2014/main" val="169940054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u="none" strike="noStrike">
                          <a:effectLst/>
                        </a:rPr>
                        <a:t>Batch Size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0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u="none" strike="noStrike">
                          <a:effectLst/>
                        </a:rPr>
                        <a:t>100, 10,000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0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u="none" strike="noStrike">
                          <a:effectLst/>
                        </a:rPr>
                        <a:t>Balance training speed and generalization with small and large batches.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0" marR="9525" marT="9525" marB="0" anchor="ctr"/>
                </a:tc>
                <a:extLst>
                  <a:ext uri="{0D108BD9-81ED-4DB2-BD59-A6C34878D82A}">
                    <a16:rowId xmlns:a16="http://schemas.microsoft.com/office/drawing/2014/main" val="120487636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u="none" strike="noStrike">
                          <a:effectLst/>
                        </a:rPr>
                        <a:t>Epochs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0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u="none" strike="noStrike" dirty="0">
                          <a:effectLst/>
                        </a:rPr>
                        <a:t>20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0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u="none" strike="noStrike" dirty="0">
                          <a:effectLst/>
                        </a:rPr>
                        <a:t>Limited by early stopping logic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0" marR="9525" marT="9525" marB="0" anchor="ctr"/>
                </a:tc>
                <a:extLst>
                  <a:ext uri="{0D108BD9-81ED-4DB2-BD59-A6C34878D82A}">
                    <a16:rowId xmlns:a16="http://schemas.microsoft.com/office/drawing/2014/main" val="24518823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52575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8CB46-D04F-057B-B0B3-9085734F4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Neural Network – Grid search</a:t>
            </a:r>
            <a:endParaRPr lang="en-IN" b="1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BA47A3B-7B19-82CF-737B-3AEEE291B5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97099" y="1846263"/>
            <a:ext cx="7258128" cy="40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3082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7D7DA-8734-5B21-7CB8-2CCFAE37B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900" y="258886"/>
            <a:ext cx="10515600" cy="1325563"/>
          </a:xfrm>
        </p:spPr>
        <p:txBody>
          <a:bodyPr/>
          <a:lstStyle/>
          <a:p>
            <a:r>
              <a:rPr lang="en-US" b="1" dirty="0"/>
              <a:t>Neural Network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6B3AED0-F930-4781-B308-E24231EDF5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008" y="1896603"/>
            <a:ext cx="5818992" cy="4351338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E32D2F3-BAF6-1F01-2670-0A5435A6F4A2}"/>
              </a:ext>
            </a:extLst>
          </p:cNvPr>
          <p:cNvSpPr txBox="1"/>
          <p:nvPr/>
        </p:nvSpPr>
        <p:spPr>
          <a:xfrm>
            <a:off x="6208776" y="2154472"/>
            <a:ext cx="5559551" cy="361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Plot 1: Average AUC vs Standard Deviation</a:t>
            </a:r>
          </a:p>
          <a:p>
            <a:pPr>
              <a:buNone/>
            </a:pPr>
            <a:endParaRPr lang="en-US" sz="2000" b="1" dirty="0"/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Objective: 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Identify models that are both accurate and consistent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Plot Insight: 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Models with high AUC and low standard deviation are ideal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Model Selection: 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Chose the one at the bottom-right corner of Plot 1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Result: 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Ensures strong, stable performance across Train, Test1, and Test2</a:t>
            </a:r>
          </a:p>
        </p:txBody>
      </p:sp>
    </p:spTree>
    <p:extLst>
      <p:ext uri="{BB962C8B-B14F-4D97-AF65-F5344CB8AC3E}">
        <p14:creationId xmlns:p14="http://schemas.microsoft.com/office/powerpoint/2010/main" val="34233140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B0AD5-E70C-DFBA-1003-A0CEC6F70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B951C-883F-BAB1-0C4F-2398FB10A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Neural Network</a:t>
            </a:r>
            <a:endParaRPr lang="en-IN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F20CFD-EC06-7A61-4249-9B630BD0B1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914" y="2135685"/>
            <a:ext cx="5020770" cy="37496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9D818C9-C4BF-70C9-1137-8460FF851FAD}"/>
              </a:ext>
            </a:extLst>
          </p:cNvPr>
          <p:cNvSpPr txBox="1"/>
          <p:nvPr/>
        </p:nvSpPr>
        <p:spPr>
          <a:xfrm>
            <a:off x="5702779" y="2281664"/>
            <a:ext cx="6245791" cy="361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Plot 2: Train AUC vs Test 2 AUC</a:t>
            </a:r>
          </a:p>
          <a:p>
            <a:pPr>
              <a:buNone/>
            </a:pPr>
            <a:endParaRPr lang="en-US" sz="2000" b="1" dirty="0"/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Purpose: 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Compare model performance between training and unseen (Test 2) data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Plot Insight: 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Models near the 45° red line show strong generalization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Model Selection: 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Picked the model closest to the diagonal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Result: 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High accuracy on unseen data with minimal overfitting</a:t>
            </a:r>
          </a:p>
        </p:txBody>
      </p:sp>
    </p:spTree>
    <p:extLst>
      <p:ext uri="{BB962C8B-B14F-4D97-AF65-F5344CB8AC3E}">
        <p14:creationId xmlns:p14="http://schemas.microsoft.com/office/powerpoint/2010/main" val="18139396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505A0-1B54-B384-5518-E0F122D06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29"/>
            <a:ext cx="10066122" cy="1423397"/>
          </a:xfrm>
        </p:spPr>
        <p:txBody>
          <a:bodyPr anchor="b">
            <a:normAutofit/>
          </a:bodyPr>
          <a:lstStyle/>
          <a:p>
            <a:r>
              <a:rPr lang="en-US" sz="4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Neural Network – Final Model</a:t>
            </a:r>
            <a:endParaRPr lang="en-IN" sz="48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ED29A5C-4C41-842B-7ABA-00921B82C3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0191" y="2593983"/>
            <a:ext cx="3968954" cy="2759571"/>
          </a:xfr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A375909-5CC8-3D75-F4E6-AFF52F5D3DF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149" r="1" b="1"/>
          <a:stretch/>
        </p:blipFill>
        <p:spPr>
          <a:xfrm>
            <a:off x="5826723" y="2219079"/>
            <a:ext cx="5150277" cy="3714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3246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966FB-FF01-467E-0C7D-DFD6E6300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831272"/>
            <a:ext cx="10066122" cy="1551710"/>
          </a:xfrm>
        </p:spPr>
        <p:txBody>
          <a:bodyPr anchor="b"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800" b="1" i="0" u="none" strike="noStrike" cap="none" normalizeH="0" baseline="0" dirty="0">
                <a:ln>
                  <a:noFill/>
                </a:ln>
                <a:effectLst/>
              </a:rPr>
              <a:t>Model Performance Comparison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8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95C4F-CC3D-1EE5-B1F7-97874BA06E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7126" y="2563854"/>
            <a:ext cx="4530898" cy="3639450"/>
          </a:xfrm>
        </p:spPr>
        <p:txBody>
          <a:bodyPr anchor="ctr">
            <a:noAutofit/>
          </a:bodyPr>
          <a:lstStyle/>
          <a:p>
            <a:pPr>
              <a:buNone/>
            </a:pPr>
            <a:r>
              <a:rPr lang="en-US" sz="1600" b="1" dirty="0"/>
              <a:t>Final Model Selection: </a:t>
            </a:r>
            <a:r>
              <a:rPr lang="en-US" sz="1600" b="1" dirty="0" err="1"/>
              <a:t>XGBoost</a:t>
            </a:r>
            <a:endParaRPr lang="en-US" sz="1600" b="1" dirty="0"/>
          </a:p>
          <a:p>
            <a:pPr marL="0" indent="0">
              <a:buNone/>
            </a:pPr>
            <a:r>
              <a:rPr lang="en-US" sz="1600" dirty="0"/>
              <a:t>We compared both the </a:t>
            </a:r>
            <a:r>
              <a:rPr lang="en-US" sz="1600" dirty="0" err="1"/>
              <a:t>XGBoost</a:t>
            </a:r>
            <a:r>
              <a:rPr lang="en-US" sz="1600" dirty="0"/>
              <a:t> and Neural Network models using their final AUC scores on Train, Test 1, and Test 2. Based on performance, we selected </a:t>
            </a:r>
            <a:r>
              <a:rPr lang="en-US" sz="1600" b="1" dirty="0" err="1"/>
              <a:t>XGBoost</a:t>
            </a:r>
            <a:r>
              <a:rPr lang="en-US" sz="1600" dirty="0"/>
              <a:t> as the final model.</a:t>
            </a:r>
          </a:p>
          <a:p>
            <a:pPr>
              <a:buNone/>
            </a:pPr>
            <a:r>
              <a:rPr lang="en-US" sz="1600" b="1" dirty="0"/>
              <a:t>Why We Chose </a:t>
            </a:r>
            <a:r>
              <a:rPr lang="en-US" sz="1600" b="1" dirty="0" err="1"/>
              <a:t>XGBoost</a:t>
            </a:r>
            <a:endParaRPr lang="en-US" sz="1600" b="1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1600" b="1" dirty="0"/>
              <a:t>Higher AUC on all datasets</a:t>
            </a:r>
            <a:r>
              <a:rPr lang="en-US" sz="1600" dirty="0"/>
              <a:t>, especially Test 2 (0.9454 vs. 0.9417)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b="1" dirty="0"/>
              <a:t>More powerful model</a:t>
            </a:r>
            <a:r>
              <a:rPr lang="en-US" sz="1600" dirty="0"/>
              <a:t>, able to learn complex patterns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Though Train-Test gap is higher, performance </a:t>
            </a:r>
            <a:r>
              <a:rPr lang="en-US" sz="1600" b="1" dirty="0"/>
              <a:t>on unseen data is stronger</a:t>
            </a:r>
            <a:endParaRPr lang="en-US" sz="16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It consistently ranked customers by risk (validated in rank ordering)</a:t>
            </a:r>
          </a:p>
          <a:p>
            <a:endParaRPr lang="en-US" sz="1600" dirty="0"/>
          </a:p>
          <a:p>
            <a:endParaRPr lang="en-IN" sz="1600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DAE466B-7B05-ED2C-3D90-96B7B49872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1428367"/>
              </p:ext>
            </p:extLst>
          </p:nvPr>
        </p:nvGraphicFramePr>
        <p:xfrm>
          <a:off x="6347308" y="2077855"/>
          <a:ext cx="4512476" cy="37142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2291">
                  <a:extLst>
                    <a:ext uri="{9D8B030D-6E8A-4147-A177-3AD203B41FA5}">
                      <a16:colId xmlns:a16="http://schemas.microsoft.com/office/drawing/2014/main" val="503958369"/>
                    </a:ext>
                  </a:extLst>
                </a:gridCol>
                <a:gridCol w="1416792">
                  <a:extLst>
                    <a:ext uri="{9D8B030D-6E8A-4147-A177-3AD203B41FA5}">
                      <a16:colId xmlns:a16="http://schemas.microsoft.com/office/drawing/2014/main" val="941358759"/>
                    </a:ext>
                  </a:extLst>
                </a:gridCol>
                <a:gridCol w="1313393">
                  <a:extLst>
                    <a:ext uri="{9D8B030D-6E8A-4147-A177-3AD203B41FA5}">
                      <a16:colId xmlns:a16="http://schemas.microsoft.com/office/drawing/2014/main" val="1967941126"/>
                    </a:ext>
                  </a:extLst>
                </a:gridCol>
              </a:tblGrid>
              <a:tr h="8037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u="none" strike="noStrike">
                          <a:effectLst/>
                        </a:rPr>
                        <a:t>Metric</a:t>
                      </a:r>
                      <a:endParaRPr lang="en-IN" sz="2400" b="1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618" marR="9618" marT="9618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u="none" strike="noStrike">
                          <a:effectLst/>
                        </a:rPr>
                        <a:t>XGBoost</a:t>
                      </a:r>
                      <a:endParaRPr lang="en-IN" sz="2400" b="1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618" marR="9618" marT="9618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u="none" strike="noStrike">
                          <a:effectLst/>
                        </a:rPr>
                        <a:t>Neural Network</a:t>
                      </a:r>
                      <a:endParaRPr lang="en-IN" sz="2400" b="1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618" marR="9618" marT="9618" marB="0" anchor="ctr"/>
                </a:tc>
                <a:extLst>
                  <a:ext uri="{0D108BD9-81ED-4DB2-BD59-A6C34878D82A}">
                    <a16:rowId xmlns:a16="http://schemas.microsoft.com/office/drawing/2014/main" val="590170491"/>
                  </a:ext>
                </a:extLst>
              </a:tr>
              <a:tr h="43436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u="none" strike="noStrike">
                          <a:effectLst/>
                        </a:rPr>
                        <a:t>AUC Train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618" marR="9618" marT="9618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u="none" strike="noStrike">
                          <a:effectLst/>
                        </a:rPr>
                        <a:t>0.98098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618" marR="9618" marT="9618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u="none" strike="noStrike">
                          <a:effectLst/>
                        </a:rPr>
                        <a:t>0.94347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618" marR="9618" marT="9618" marB="0" anchor="ctr"/>
                </a:tc>
                <a:extLst>
                  <a:ext uri="{0D108BD9-81ED-4DB2-BD59-A6C34878D82A}">
                    <a16:rowId xmlns:a16="http://schemas.microsoft.com/office/drawing/2014/main" val="915635559"/>
                  </a:ext>
                </a:extLst>
              </a:tr>
              <a:tr h="43436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u="none" strike="noStrike">
                          <a:effectLst/>
                        </a:rPr>
                        <a:t>AUC Test 1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618" marR="9618" marT="9618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u="none" strike="noStrike">
                          <a:effectLst/>
                        </a:rPr>
                        <a:t>0.94696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618" marR="9618" marT="9618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u="none" strike="noStrike">
                          <a:effectLst/>
                        </a:rPr>
                        <a:t>0.94523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618" marR="9618" marT="9618" marB="0" anchor="ctr"/>
                </a:tc>
                <a:extLst>
                  <a:ext uri="{0D108BD9-81ED-4DB2-BD59-A6C34878D82A}">
                    <a16:rowId xmlns:a16="http://schemas.microsoft.com/office/drawing/2014/main" val="3366359981"/>
                  </a:ext>
                </a:extLst>
              </a:tr>
              <a:tr h="43436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u="none" strike="noStrike">
                          <a:effectLst/>
                        </a:rPr>
                        <a:t>AUC Test 2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618" marR="9618" marT="9618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u="none" strike="noStrike">
                          <a:effectLst/>
                        </a:rPr>
                        <a:t>0.94544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618" marR="9618" marT="9618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u="none" strike="noStrike">
                          <a:effectLst/>
                        </a:rPr>
                        <a:t>0.94172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618" marR="9618" marT="9618" marB="0" anchor="ctr"/>
                </a:tc>
                <a:extLst>
                  <a:ext uri="{0D108BD9-81ED-4DB2-BD59-A6C34878D82A}">
                    <a16:rowId xmlns:a16="http://schemas.microsoft.com/office/drawing/2014/main" val="1044633460"/>
                  </a:ext>
                </a:extLst>
              </a:tr>
              <a:tr h="8037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u="none" strike="noStrike">
                          <a:effectLst/>
                        </a:rPr>
                        <a:t>Avg Test AUC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618" marR="9618" marT="9618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u="none" strike="noStrike">
                          <a:effectLst/>
                        </a:rPr>
                        <a:t>0.9462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618" marR="9618" marT="9618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u="none" strike="noStrike">
                          <a:effectLst/>
                        </a:rPr>
                        <a:t>0.94348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618" marR="9618" marT="9618" marB="0" anchor="ctr"/>
                </a:tc>
                <a:extLst>
                  <a:ext uri="{0D108BD9-81ED-4DB2-BD59-A6C34878D82A}">
                    <a16:rowId xmlns:a16="http://schemas.microsoft.com/office/drawing/2014/main" val="972021837"/>
                  </a:ext>
                </a:extLst>
              </a:tr>
              <a:tr h="8037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u="none" strike="noStrike">
                          <a:effectLst/>
                        </a:rPr>
                        <a:t>Train-Test2 Diff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618" marR="9618" marT="9618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u="none" strike="noStrike">
                          <a:effectLst/>
                        </a:rPr>
                        <a:t>0.03554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618" marR="9618" marT="9618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u="none" strike="noStrike" dirty="0">
                          <a:effectLst/>
                        </a:rPr>
                        <a:t>0.00175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618" marR="9618" marT="9618" marB="0" anchor="ctr"/>
                </a:tc>
                <a:extLst>
                  <a:ext uri="{0D108BD9-81ED-4DB2-BD59-A6C34878D82A}">
                    <a16:rowId xmlns:a16="http://schemas.microsoft.com/office/drawing/2014/main" val="877601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91393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09BB5-5C3E-2DCD-FF04-B9FC6F751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73940"/>
            <a:ext cx="5052369" cy="1035781"/>
          </a:xfrm>
        </p:spPr>
        <p:txBody>
          <a:bodyPr anchor="ctr">
            <a:normAutofit/>
          </a:bodyPr>
          <a:lstStyle/>
          <a:p>
            <a:r>
              <a:rPr lang="en-US" b="1" dirty="0"/>
              <a:t>Strategy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ED9D4E-0A06-B0D9-4390-550C49BE53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990" y="1926634"/>
            <a:ext cx="6379649" cy="4757093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1800" b="1" dirty="0"/>
              <a:t>Revenue Calculation for Customer:</a:t>
            </a:r>
            <a:endParaRPr lang="en-US" sz="18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1800" i="1" dirty="0"/>
              <a:t>  Monthly Revenue for 1 Customer </a:t>
            </a:r>
            <a:r>
              <a:rPr lang="en-US" sz="1800" dirty="0"/>
              <a:t>= </a:t>
            </a:r>
            <a:r>
              <a:rPr lang="en-US" sz="1800" dirty="0" err="1"/>
              <a:t>B_Ave</a:t>
            </a:r>
            <a:r>
              <a:rPr lang="en-US" sz="1800" dirty="0"/>
              <a:t> × 0.02 + </a:t>
            </a:r>
            <a:r>
              <a:rPr lang="en-US" sz="1800" dirty="0" err="1"/>
              <a:t>S_Ave</a:t>
            </a:r>
            <a:r>
              <a:rPr lang="en-US" sz="1800" dirty="0"/>
              <a:t> × 0.001</a:t>
            </a:r>
            <a:endParaRPr lang="en-IN" sz="18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b="1" dirty="0"/>
              <a:t>Strategy Thresholds:</a:t>
            </a:r>
            <a:endParaRPr lang="en-US" sz="18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1800" b="1" dirty="0"/>
              <a:t>Conservative Strategy:</a:t>
            </a:r>
            <a:endParaRPr lang="en-US" sz="1800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Threshold: 0.3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Default Rate: 2–5%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Focus: Strong risk cushion, minimal defaults, consistent revenue.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b="1" dirty="0"/>
              <a:t>Balanced Strategy:</a:t>
            </a:r>
            <a:endParaRPr lang="en-US" sz="1800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Threshold: 0.5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Default Rate: 8–9%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Focus: Maximizing revenue while managing default risk.</a:t>
            </a:r>
          </a:p>
          <a:p>
            <a:endParaRPr lang="en-IN" sz="1800" dirty="0">
              <a:solidFill>
                <a:schemeClr val="tx1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239AF80-8A28-0F54-2B40-778C16DA68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604990"/>
              </p:ext>
            </p:extLst>
          </p:nvPr>
        </p:nvGraphicFramePr>
        <p:xfrm>
          <a:off x="6952212" y="1976904"/>
          <a:ext cx="4991631" cy="4026546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783541">
                  <a:extLst>
                    <a:ext uri="{9D8B030D-6E8A-4147-A177-3AD203B41FA5}">
                      <a16:colId xmlns:a16="http://schemas.microsoft.com/office/drawing/2014/main" val="2469694651"/>
                    </a:ext>
                  </a:extLst>
                </a:gridCol>
                <a:gridCol w="654313">
                  <a:extLst>
                    <a:ext uri="{9D8B030D-6E8A-4147-A177-3AD203B41FA5}">
                      <a16:colId xmlns:a16="http://schemas.microsoft.com/office/drawing/2014/main" val="1147176757"/>
                    </a:ext>
                  </a:extLst>
                </a:gridCol>
                <a:gridCol w="717977">
                  <a:extLst>
                    <a:ext uri="{9D8B030D-6E8A-4147-A177-3AD203B41FA5}">
                      <a16:colId xmlns:a16="http://schemas.microsoft.com/office/drawing/2014/main" val="2174834554"/>
                    </a:ext>
                  </a:extLst>
                </a:gridCol>
                <a:gridCol w="699923">
                  <a:extLst>
                    <a:ext uri="{9D8B030D-6E8A-4147-A177-3AD203B41FA5}">
                      <a16:colId xmlns:a16="http://schemas.microsoft.com/office/drawing/2014/main" val="326374134"/>
                    </a:ext>
                  </a:extLst>
                </a:gridCol>
                <a:gridCol w="717977">
                  <a:extLst>
                    <a:ext uri="{9D8B030D-6E8A-4147-A177-3AD203B41FA5}">
                      <a16:colId xmlns:a16="http://schemas.microsoft.com/office/drawing/2014/main" val="1193329889"/>
                    </a:ext>
                  </a:extLst>
                </a:gridCol>
                <a:gridCol w="699923">
                  <a:extLst>
                    <a:ext uri="{9D8B030D-6E8A-4147-A177-3AD203B41FA5}">
                      <a16:colId xmlns:a16="http://schemas.microsoft.com/office/drawing/2014/main" val="3247922508"/>
                    </a:ext>
                  </a:extLst>
                </a:gridCol>
                <a:gridCol w="717977">
                  <a:extLst>
                    <a:ext uri="{9D8B030D-6E8A-4147-A177-3AD203B41FA5}">
                      <a16:colId xmlns:a16="http://schemas.microsoft.com/office/drawing/2014/main" val="2327215314"/>
                    </a:ext>
                  </a:extLst>
                </a:gridCol>
              </a:tblGrid>
              <a:tr h="636946">
                <a:tc>
                  <a:txBody>
                    <a:bodyPr/>
                    <a:lstStyle/>
                    <a:p>
                      <a:pPr algn="l" fontAlgn="b"/>
                      <a:r>
                        <a:rPr lang="en-IN" sz="8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Threshold</a:t>
                      </a:r>
                    </a:p>
                  </a:txBody>
                  <a:tcPr marL="115767" marR="69460" marT="69460" marB="69460" anchor="b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8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Train Default Rate (%)</a:t>
                      </a:r>
                    </a:p>
                  </a:txBody>
                  <a:tcPr marL="115767" marR="69460" marT="69460" marB="69460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8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Train Revenue ($)</a:t>
                      </a:r>
                    </a:p>
                  </a:txBody>
                  <a:tcPr marL="115767" marR="69460" marT="69460" marB="69460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8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Test1 Default Rate (%)</a:t>
                      </a:r>
                    </a:p>
                  </a:txBody>
                  <a:tcPr marL="115767" marR="69460" marT="69460" marB="69460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8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Test1 Revenue ($)</a:t>
                      </a:r>
                    </a:p>
                  </a:txBody>
                  <a:tcPr marL="115767" marR="69460" marT="69460" marB="69460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8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Test2 Default Rate (%)</a:t>
                      </a:r>
                    </a:p>
                  </a:txBody>
                  <a:tcPr marL="115767" marR="69460" marT="69460" marB="69460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8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Test2 Revenue ($)</a:t>
                      </a:r>
                    </a:p>
                  </a:txBody>
                  <a:tcPr marL="115767" marR="69460" marT="69460" marB="69460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4364401"/>
                  </a:ext>
                </a:extLst>
              </a:tr>
              <a:tr h="338960"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0.1</a:t>
                      </a:r>
                    </a:p>
                  </a:txBody>
                  <a:tcPr marL="115767" marR="69460" marT="69460" marB="69460" anchor="b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0.39</a:t>
                      </a:r>
                    </a:p>
                  </a:txBody>
                  <a:tcPr marL="115767" marR="69460" marT="69460" marB="69460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7450.53</a:t>
                      </a:r>
                    </a:p>
                  </a:txBody>
                  <a:tcPr marL="115767" marR="69460" marT="69460" marB="69460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1.8</a:t>
                      </a:r>
                    </a:p>
                  </a:txBody>
                  <a:tcPr marL="115767" marR="69460" marT="69460" marB="69460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1567.76</a:t>
                      </a:r>
                    </a:p>
                  </a:txBody>
                  <a:tcPr marL="115767" marR="69460" marT="69460" marB="69460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1.9</a:t>
                      </a:r>
                    </a:p>
                  </a:txBody>
                  <a:tcPr marL="115767" marR="69460" marT="69460" marB="69460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1595.9</a:t>
                      </a:r>
                    </a:p>
                  </a:txBody>
                  <a:tcPr marL="115767" marR="69460" marT="69460" marB="69460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9947693"/>
                  </a:ext>
                </a:extLst>
              </a:tr>
              <a:tr h="338960"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0.2</a:t>
                      </a:r>
                    </a:p>
                  </a:txBody>
                  <a:tcPr marL="115767" marR="69460" marT="69460" marB="69460" anchor="b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1.09</a:t>
                      </a:r>
                    </a:p>
                  </a:txBody>
                  <a:tcPr marL="115767" marR="69460" marT="69460" marB="69460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7860.2</a:t>
                      </a:r>
                    </a:p>
                  </a:txBody>
                  <a:tcPr marL="115767" marR="69460" marT="69460" marB="69460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3.27</a:t>
                      </a:r>
                    </a:p>
                  </a:txBody>
                  <a:tcPr marL="115767" marR="69460" marT="69460" marB="69460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1645.24</a:t>
                      </a:r>
                    </a:p>
                  </a:txBody>
                  <a:tcPr marL="115767" marR="69460" marT="69460" marB="69460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3.28</a:t>
                      </a:r>
                    </a:p>
                  </a:txBody>
                  <a:tcPr marL="115767" marR="69460" marT="69460" marB="69460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1677.35</a:t>
                      </a:r>
                    </a:p>
                  </a:txBody>
                  <a:tcPr marL="115767" marR="69460" marT="69460" marB="69460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0142700"/>
                  </a:ext>
                </a:extLst>
              </a:tr>
              <a:tr h="338960"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0.3</a:t>
                      </a:r>
                    </a:p>
                  </a:txBody>
                  <a:tcPr marL="115767" marR="69460" marT="69460" marB="69460" anchor="b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2.02</a:t>
                      </a:r>
                    </a:p>
                  </a:txBody>
                  <a:tcPr marL="115767" marR="69460" marT="69460" marB="69460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8068.59</a:t>
                      </a:r>
                    </a:p>
                  </a:txBody>
                  <a:tcPr marL="115767" marR="69460" marT="69460" marB="69460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4.83</a:t>
                      </a:r>
                    </a:p>
                  </a:txBody>
                  <a:tcPr marL="115767" marR="69460" marT="69460" marB="69460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1690.83</a:t>
                      </a:r>
                    </a:p>
                  </a:txBody>
                  <a:tcPr marL="115767" marR="69460" marT="69460" marB="69460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4.84</a:t>
                      </a:r>
                    </a:p>
                  </a:txBody>
                  <a:tcPr marL="115767" marR="69460" marT="69460" marB="69460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1727.71</a:t>
                      </a:r>
                    </a:p>
                  </a:txBody>
                  <a:tcPr marL="115767" marR="69460" marT="69460" marB="69460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4908262"/>
                  </a:ext>
                </a:extLst>
              </a:tr>
              <a:tr h="338960"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0.4</a:t>
                      </a:r>
                    </a:p>
                  </a:txBody>
                  <a:tcPr marL="115767" marR="69460" marT="69460" marB="69460" anchor="b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3.29</a:t>
                      </a:r>
                    </a:p>
                  </a:txBody>
                  <a:tcPr marL="115767" marR="69460" marT="69460" marB="69460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8192.81</a:t>
                      </a:r>
                    </a:p>
                  </a:txBody>
                  <a:tcPr marL="115767" marR="69460" marT="69460" marB="69460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6.28</a:t>
                      </a:r>
                    </a:p>
                  </a:txBody>
                  <a:tcPr marL="115767" marR="69460" marT="69460" marB="69460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1719.97</a:t>
                      </a:r>
                    </a:p>
                  </a:txBody>
                  <a:tcPr marL="115767" marR="69460" marT="69460" marB="69460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6.7</a:t>
                      </a:r>
                    </a:p>
                  </a:txBody>
                  <a:tcPr marL="115767" marR="69460" marT="69460" marB="69460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1750.91</a:t>
                      </a:r>
                    </a:p>
                  </a:txBody>
                  <a:tcPr marL="115767" marR="69460" marT="69460" marB="69460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998674"/>
                  </a:ext>
                </a:extLst>
              </a:tr>
              <a:tr h="338960"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0.5</a:t>
                      </a:r>
                    </a:p>
                  </a:txBody>
                  <a:tcPr marL="115767" marR="69460" marT="69460" marB="69460" anchor="b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5.01</a:t>
                      </a:r>
                    </a:p>
                  </a:txBody>
                  <a:tcPr marL="115767" marR="69460" marT="69460" marB="69460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8272.02</a:t>
                      </a:r>
                    </a:p>
                  </a:txBody>
                  <a:tcPr marL="115767" marR="69460" marT="69460" marB="69460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8.14</a:t>
                      </a:r>
                    </a:p>
                  </a:txBody>
                  <a:tcPr marL="115767" marR="69460" marT="69460" marB="69460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1741.77</a:t>
                      </a:r>
                    </a:p>
                  </a:txBody>
                  <a:tcPr marL="115767" marR="69460" marT="69460" marB="69460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8.5</a:t>
                      </a:r>
                    </a:p>
                  </a:txBody>
                  <a:tcPr marL="115767" marR="69460" marT="69460" marB="69460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1774.52</a:t>
                      </a:r>
                    </a:p>
                  </a:txBody>
                  <a:tcPr marL="115767" marR="69460" marT="69460" marB="69460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8597647"/>
                  </a:ext>
                </a:extLst>
              </a:tr>
              <a:tr h="338960"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0.6</a:t>
                      </a:r>
                    </a:p>
                  </a:txBody>
                  <a:tcPr marL="115767" marR="69460" marT="69460" marB="69460" anchor="b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7.12</a:t>
                      </a:r>
                    </a:p>
                  </a:txBody>
                  <a:tcPr marL="115767" marR="69460" marT="69460" marB="69460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8320.14</a:t>
                      </a:r>
                    </a:p>
                  </a:txBody>
                  <a:tcPr marL="115767" marR="69460" marT="69460" marB="69460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10.01</a:t>
                      </a:r>
                    </a:p>
                  </a:txBody>
                  <a:tcPr marL="115767" marR="69460" marT="69460" marB="69460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1757.13</a:t>
                      </a:r>
                    </a:p>
                  </a:txBody>
                  <a:tcPr marL="115767" marR="69460" marT="69460" marB="69460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10.36</a:t>
                      </a:r>
                    </a:p>
                  </a:txBody>
                  <a:tcPr marL="115767" marR="69460" marT="69460" marB="69460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1789.15</a:t>
                      </a:r>
                    </a:p>
                  </a:txBody>
                  <a:tcPr marL="115767" marR="69460" marT="69460" marB="69460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394642"/>
                  </a:ext>
                </a:extLst>
              </a:tr>
              <a:tr h="338960"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0.7</a:t>
                      </a:r>
                    </a:p>
                  </a:txBody>
                  <a:tcPr marL="115767" marR="69460" marT="69460" marB="69460" anchor="b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9.88</a:t>
                      </a:r>
                    </a:p>
                  </a:txBody>
                  <a:tcPr marL="115767" marR="69460" marT="69460" marB="69460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8346.93</a:t>
                      </a:r>
                    </a:p>
                  </a:txBody>
                  <a:tcPr marL="115767" marR="69460" marT="69460" marB="69460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12.54</a:t>
                      </a:r>
                    </a:p>
                  </a:txBody>
                  <a:tcPr marL="115767" marR="69460" marT="69460" marB="69460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1767.63</a:t>
                      </a:r>
                    </a:p>
                  </a:txBody>
                  <a:tcPr marL="115767" marR="69460" marT="69460" marB="69460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12.78</a:t>
                      </a:r>
                    </a:p>
                  </a:txBody>
                  <a:tcPr marL="115767" marR="69460" marT="69460" marB="69460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1799.48</a:t>
                      </a:r>
                    </a:p>
                  </a:txBody>
                  <a:tcPr marL="115767" marR="69460" marT="69460" marB="69460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1916560"/>
                  </a:ext>
                </a:extLst>
              </a:tr>
              <a:tr h="338960"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0.8</a:t>
                      </a:r>
                    </a:p>
                  </a:txBody>
                  <a:tcPr marL="115767" marR="69460" marT="69460" marB="69460" anchor="b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13.43</a:t>
                      </a:r>
                    </a:p>
                  </a:txBody>
                  <a:tcPr marL="115767" marR="69460" marT="69460" marB="69460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8358.22</a:t>
                      </a:r>
                    </a:p>
                  </a:txBody>
                  <a:tcPr marL="115767" marR="69460" marT="69460" marB="69460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15.56</a:t>
                      </a:r>
                    </a:p>
                  </a:txBody>
                  <a:tcPr marL="115767" marR="69460" marT="69460" marB="69460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1776.44</a:t>
                      </a:r>
                    </a:p>
                  </a:txBody>
                  <a:tcPr marL="115767" marR="69460" marT="69460" marB="69460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15.5</a:t>
                      </a:r>
                    </a:p>
                  </a:txBody>
                  <a:tcPr marL="115767" marR="69460" marT="69460" marB="69460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1805.83</a:t>
                      </a:r>
                    </a:p>
                  </a:txBody>
                  <a:tcPr marL="115767" marR="69460" marT="69460" marB="69460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1646704"/>
                  </a:ext>
                </a:extLst>
              </a:tr>
              <a:tr h="338960"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0.9</a:t>
                      </a:r>
                    </a:p>
                  </a:txBody>
                  <a:tcPr marL="115767" marR="69460" marT="69460" marB="69460" anchor="b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17.82</a:t>
                      </a:r>
                    </a:p>
                  </a:txBody>
                  <a:tcPr marL="115767" marR="69460" marT="69460" marB="69460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8360.5</a:t>
                      </a:r>
                    </a:p>
                  </a:txBody>
                  <a:tcPr marL="115767" marR="69460" marT="69460" marB="69460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18.88</a:t>
                      </a:r>
                    </a:p>
                  </a:txBody>
                  <a:tcPr marL="115767" marR="69460" marT="69460" marB="69460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1782.76</a:t>
                      </a:r>
                    </a:p>
                  </a:txBody>
                  <a:tcPr marL="115767" marR="69460" marT="69460" marB="69460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18.78</a:t>
                      </a:r>
                    </a:p>
                  </a:txBody>
                  <a:tcPr marL="115767" marR="69460" marT="69460" marB="69460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1809.97</a:t>
                      </a:r>
                    </a:p>
                  </a:txBody>
                  <a:tcPr marL="115767" marR="69460" marT="69460" marB="69460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6180669"/>
                  </a:ext>
                </a:extLst>
              </a:tr>
              <a:tr h="338960"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115767" marR="69460" marT="69460" marB="69460" anchor="b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25.77</a:t>
                      </a:r>
                    </a:p>
                  </a:txBody>
                  <a:tcPr marL="115767" marR="69460" marT="69460" marB="69460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8360.56</a:t>
                      </a:r>
                    </a:p>
                  </a:txBody>
                  <a:tcPr marL="115767" marR="69460" marT="69460" marB="69460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25.71</a:t>
                      </a:r>
                    </a:p>
                  </a:txBody>
                  <a:tcPr marL="115767" marR="69460" marT="69460" marB="69460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1786.56</a:t>
                      </a:r>
                    </a:p>
                  </a:txBody>
                  <a:tcPr marL="115767" marR="69460" marT="69460" marB="69460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25.04</a:t>
                      </a:r>
                    </a:p>
                  </a:txBody>
                  <a:tcPr marL="115767" marR="69460" marT="69460" marB="69460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8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1813.01</a:t>
                      </a:r>
                    </a:p>
                  </a:txBody>
                  <a:tcPr marL="115767" marR="69460" marT="69460" marB="69460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98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959938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596</TotalTime>
  <Words>1898</Words>
  <Application>Microsoft Macintosh PowerPoint</Application>
  <PresentationFormat>Widescreen</PresentationFormat>
  <Paragraphs>506</Paragraphs>
  <Slides>22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Arial Unicode MS</vt:lpstr>
      <vt:lpstr>Aptos</vt:lpstr>
      <vt:lpstr>Aptos Narrow</vt:lpstr>
      <vt:lpstr>Arial</vt:lpstr>
      <vt:lpstr>Calibri</vt:lpstr>
      <vt:lpstr>Calibri Light</vt:lpstr>
      <vt:lpstr>Courier New</vt:lpstr>
      <vt:lpstr>Times New Roman</vt:lpstr>
      <vt:lpstr>Wingdings</vt:lpstr>
      <vt:lpstr>Retrospect</vt:lpstr>
      <vt:lpstr>CREDIT RISK MODEL PROJECT</vt:lpstr>
      <vt:lpstr>Executive Summary</vt:lpstr>
      <vt:lpstr>Dataset Information</vt:lpstr>
      <vt:lpstr>Features</vt:lpstr>
      <vt:lpstr>One hot encoding </vt:lpstr>
      <vt:lpstr>Feature Engineering</vt:lpstr>
      <vt:lpstr>Feature Selection</vt:lpstr>
      <vt:lpstr>Grid Search</vt:lpstr>
      <vt:lpstr>Grid search</vt:lpstr>
      <vt:lpstr>Grid Search (Model selection)</vt:lpstr>
      <vt:lpstr>Grid Search (Model selection)</vt:lpstr>
      <vt:lpstr>XGBoost Final model</vt:lpstr>
      <vt:lpstr>SHAP ANALYSIS - BEESWARM</vt:lpstr>
      <vt:lpstr>SHAP ANALYSIS – WATERFALL</vt:lpstr>
      <vt:lpstr>Neural Network – Data Processing</vt:lpstr>
      <vt:lpstr>Neural Network – Grid search</vt:lpstr>
      <vt:lpstr>Neural Network – Grid search</vt:lpstr>
      <vt:lpstr>Neural Network</vt:lpstr>
      <vt:lpstr>Neural Network</vt:lpstr>
      <vt:lpstr>Neural Network – Final Model</vt:lpstr>
      <vt:lpstr>Model Performance Comparison </vt:lpstr>
      <vt:lpstr>Strategy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Shreya Raghunath</dc:creator>
  <cp:lastModifiedBy>., Rukmangada</cp:lastModifiedBy>
  <cp:revision>35</cp:revision>
  <dcterms:created xsi:type="dcterms:W3CDTF">2025-04-03T16:29:48Z</dcterms:created>
  <dcterms:modified xsi:type="dcterms:W3CDTF">2025-04-05T04:23:17Z</dcterms:modified>
</cp:coreProperties>
</file>